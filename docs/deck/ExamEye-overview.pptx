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ExamEye is a small add-on for the Chrome browser. It watches what happens in the browser while a candidate sits an online paper and writes a record to a folder on the same machine. It never interferes with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for staff: ExamEye cannot stop cheating and does not try to. It gives the centre an evidence trail. The one thing the candidate is asked to do is accept the screen-share prompt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boxes left to right. Stress that no one has to start or stop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icons are the events treated as most serious in the report. The full list with severities is on the flags slide near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detailed checklist is docs/centre-setup.md in the ExamEye folder. The next slides show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Chrome shows a "Disable developer mode extensions" bubble, click Cancel. Its Disable button would switch ExamEye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add the exam site to Chrome’s "Always keep these sites active" list under Performance, so a sleeping tab does not look like the candidate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values for the centre’s exam platform are in the setup checklist table (docs/centre-setup.md,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orange banner exists so that a settings change during a paper can never be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check fails, the setup checklist names the usual cause for each. Screen capture, if on, adds a share prompt at step 1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Invigilators do not need to open the popup at all. The badge alone shows that recording is on and whether anything was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macOS the pictures are black unless Chrome has the Screen Recording permission (step 3). Check one desktop frame during the dry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summary.html is self-contained: the screenshots are embedded, so the single file can be copied or emailed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dispute, start with the flags, then use the timeline links to see the screenshot at each flagged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is a reading aid, not a verdict. A tab switch can be innocent; five parallel pages during a closed-book paper usually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checker needs Node.js on the machine that runs it, which is why it is described as an IT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candidate notice template is in the setup checklist, section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image" Target="../media/image-10-1.png"/><Relationship Id="rId6" Type="http://schemas.openxmlformats.org/officeDocument/2006/relationships/image" Target="../media/image-10-1.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image" Target="../media/image-13-4.png"/><Relationship Id="rId5" Type="http://schemas.openxmlformats.org/officeDocument/2006/relationships/image" Target="../media/image-13-4.png"/><Relationship Id="rId6" Type="http://schemas.openxmlformats.org/officeDocument/2006/relationships/image" Target="../media/image-13-6.png"/><Relationship Id="rId7" Type="http://schemas.openxmlformats.org/officeDocument/2006/relationships/image" Target="../media/image-13-6.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1.png"/><Relationship Id="rId3" Type="http://schemas.openxmlformats.org/officeDocument/2006/relationships/image" Target="../media/image-18-1.png"/><Relationship Id="rId4" Type="http://schemas.openxmlformats.org/officeDocument/2006/relationships/image" Target="../media/image-18-1.png"/><Relationship Id="rId5" Type="http://schemas.openxmlformats.org/officeDocument/2006/relationships/image" Target="../media/image-18-1.png"/><Relationship Id="rId6" Type="http://schemas.openxmlformats.org/officeDocument/2006/relationships/image" Target="../media/image-18-1.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A"/>
        </a:solidFill>
      </p:bgPr>
    </p:bg>
    <p:spTree>
      <p:nvGrpSpPr>
        <p:cNvPr id="1" name=""/>
        <p:cNvGrpSpPr/>
        <p:nvPr/>
      </p:nvGrpSpPr>
      <p:grpSpPr>
        <a:xfrm>
          <a:off x="0" y="0"/>
          <a:ext cx="0" cy="0"/>
          <a:chOff x="0" y="0"/>
          <a:chExt cx="0" cy="0"/>
        </a:xfrm>
      </p:grpSpPr>
      <p:pic>
        <p:nvPicPr>
          <p:cNvPr id="2" name="Image 0" descr="/Users/pawank/DiskAlpha/Development/exameye/docs/deck/img/icons/eye-blue.png">    </p:cNvPr>
          <p:cNvPicPr>
            <a:picLocks noChangeAspect="1"/>
          </p:cNvPicPr>
          <p:nvPr/>
        </p:nvPicPr>
        <p:blipFill>
          <a:blip r:embed="rId1"/>
          <a:stretch>
            <a:fillRect/>
          </a:stretch>
        </p:blipFill>
        <p:spPr>
          <a:xfrm>
            <a:off x="457200" y="1097280"/>
            <a:ext cx="822960" cy="822960"/>
          </a:xfrm>
          <a:prstGeom prst="rect">
            <a:avLst/>
          </a:prstGeom>
        </p:spPr>
      </p:pic>
      <p:sp>
        <p:nvSpPr>
          <p:cNvPr id="3" name="Text 0"/>
          <p:cNvSpPr txBox="1"/>
          <p:nvPr/>
        </p:nvSpPr>
        <p:spPr>
          <a:xfrm>
            <a:off x="457200" y="2011680"/>
            <a:ext cx="7315200" cy="82296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ExamEye</a:t>
            </a:r>
            <a:endParaRPr lang="en-US" sz="4400" dirty="0"/>
          </a:p>
        </p:txBody>
      </p:sp>
      <p:sp>
        <p:nvSpPr>
          <p:cNvPr id="4" name="Text 1"/>
          <p:cNvSpPr txBox="1"/>
          <p:nvPr/>
        </p:nvSpPr>
        <p:spPr>
          <a:xfrm>
            <a:off x="457200" y="278892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A silent witness for online exams</a:t>
            </a:r>
            <a:endParaRPr lang="en-US" sz="2200" dirty="0"/>
          </a:p>
        </p:txBody>
      </p:sp>
      <p:sp>
        <p:nvSpPr>
          <p:cNvPr id="5" name="Text 2"/>
          <p:cNvSpPr txBox="1"/>
          <p:nvPr/>
        </p:nvSpPr>
        <p:spPr>
          <a:xfrm>
            <a:off x="457200" y="3383280"/>
            <a:ext cx="7772400" cy="82296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What it does, how to set it up in five steps, and how to read what it records.</a:t>
            </a: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For exam-centre staff and invigilators. No technical background needed.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2</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What ExamEye is</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A recorder, not a gatekeeper. It writes down what happened; people decide what it means.</a:t>
            </a:r>
            <a:endParaRPr lang="en-US" sz="1400" dirty="0"/>
          </a:p>
        </p:txBody>
      </p:sp>
      <p:sp>
        <p:nvSpPr>
          <p:cNvPr id="5" name="Shape 3"/>
          <p:cNvSpPr/>
          <p:nvPr/>
        </p:nvSpPr>
        <p:spPr>
          <a:xfrm>
            <a:off x="457200" y="1417320"/>
            <a:ext cx="4023360" cy="3200400"/>
          </a:xfrm>
          <a:prstGeom prst="roundRect">
            <a:avLst>
              <a:gd name="adj" fmla="val 2286"/>
            </a:avLst>
          </a:prstGeom>
          <a:solidFill>
            <a:srgbClr val="EEF3FB"/>
          </a:solidFill>
          <a:ln w="9525">
            <a:solidFill>
              <a:srgbClr val="E6E4DF"/>
            </a:solidFill>
            <a:prstDash val="solid"/>
          </a:ln>
        </p:spPr>
      </p:sp>
      <p:pic>
        <p:nvPicPr>
          <p:cNvPr id="6" name="Image 0" descr="/Users/pawank/DiskAlpha/Development/exameye/docs/deck/img/icons/check-green.png">    </p:cNvPr>
          <p:cNvPicPr>
            <a:picLocks noChangeAspect="1"/>
          </p:cNvPicPr>
          <p:nvPr/>
        </p:nvPicPr>
        <p:blipFill>
          <a:blip r:embed="rId1"/>
          <a:stretch>
            <a:fillRect/>
          </a:stretch>
        </p:blipFill>
        <p:spPr>
          <a:xfrm>
            <a:off x="640080" y="1572768"/>
            <a:ext cx="365760" cy="365760"/>
          </a:xfrm>
          <a:prstGeom prst="rect">
            <a:avLst/>
          </a:prstGeom>
        </p:spPr>
      </p:pic>
      <p:sp>
        <p:nvSpPr>
          <p:cNvPr id="7" name="Text 4"/>
          <p:cNvSpPr txBox="1"/>
          <p:nvPr/>
        </p:nvSpPr>
        <p:spPr>
          <a:xfrm>
            <a:off x="1097280" y="1609344"/>
            <a:ext cx="2743200" cy="320040"/>
          </a:xfrm>
          <a:prstGeom prst="rect">
            <a:avLst/>
          </a:prstGeom>
          <a:noFill/>
          <a:ln/>
        </p:spPr>
        <p:txBody>
          <a:bodyPr wrap="square" lIns="0" tIns="0" rIns="0" bIns="0" rtlCol="0" anchor="t"/>
          <a:lstStyle/>
          <a:p>
            <a:pPr indent="0" marL="0">
              <a:buNone/>
            </a:pPr>
            <a:r>
              <a:rPr lang="en-US" sz="1800" b="1" dirty="0">
                <a:solidFill>
                  <a:srgbClr val="0F2A4A"/>
                </a:solidFill>
                <a:latin typeface="Calibri" pitchFamily="34" charset="0"/>
                <a:ea typeface="Calibri" pitchFamily="34" charset="-122"/>
                <a:cs typeface="Calibri" pitchFamily="34" charset="-120"/>
              </a:rPr>
              <a:t>It does</a:t>
            </a:r>
            <a:endParaRPr lang="en-US" sz="1800" dirty="0"/>
          </a:p>
        </p:txBody>
      </p:sp>
      <p:sp>
        <p:nvSpPr>
          <p:cNvPr id="8" name="Text 5"/>
          <p:cNvSpPr txBox="1"/>
          <p:nvPr/>
        </p:nvSpPr>
        <p:spPr>
          <a:xfrm>
            <a:off x="640080" y="2011680"/>
            <a:ext cx="3657600" cy="25603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Starts and stops on its own when the exam website opens and when the paper is submitted</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Writes one line for every notable event, with the time</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Takes a screenshot of the exam tab when something happens, and every few minutes</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Can photograph the whole screen while the candidate is away from Chrome</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Produces a readable report with screenshots at the end of every paper</a:t>
            </a:r>
            <a:endParaRPr lang="en-US" sz="1250" dirty="0"/>
          </a:p>
        </p:txBody>
      </p:sp>
      <p:sp>
        <p:nvSpPr>
          <p:cNvPr id="9" name="Shape 6"/>
          <p:cNvSpPr/>
          <p:nvPr/>
        </p:nvSpPr>
        <p:spPr>
          <a:xfrm>
            <a:off x="4663440" y="1417320"/>
            <a:ext cx="4023360" cy="3200400"/>
          </a:xfrm>
          <a:prstGeom prst="roundRect">
            <a:avLst>
              <a:gd name="adj" fmla="val 2286"/>
            </a:avLst>
          </a:prstGeom>
          <a:solidFill>
            <a:srgbClr val="FDF0F0"/>
          </a:solidFill>
          <a:ln w="9525">
            <a:solidFill>
              <a:srgbClr val="E6E4DF"/>
            </a:solidFill>
            <a:prstDash val="solid"/>
          </a:ln>
        </p:spPr>
      </p:sp>
      <p:pic>
        <p:nvPicPr>
          <p:cNvPr id="10" name="Image 1" descr="/Users/pawank/DiskAlpha/Development/exameye/docs/deck/img/icons/stop-red.png">    </p:cNvPr>
          <p:cNvPicPr>
            <a:picLocks noChangeAspect="1"/>
          </p:cNvPicPr>
          <p:nvPr/>
        </p:nvPicPr>
        <p:blipFill>
          <a:blip r:embed="rId2"/>
          <a:stretch>
            <a:fillRect/>
          </a:stretch>
        </p:blipFill>
        <p:spPr>
          <a:xfrm>
            <a:off x="4846320" y="1572768"/>
            <a:ext cx="365760" cy="365760"/>
          </a:xfrm>
          <a:prstGeom prst="rect">
            <a:avLst/>
          </a:prstGeom>
        </p:spPr>
      </p:pic>
      <p:sp>
        <p:nvSpPr>
          <p:cNvPr id="11" name="Text 7"/>
          <p:cNvSpPr txBox="1"/>
          <p:nvPr/>
        </p:nvSpPr>
        <p:spPr>
          <a:xfrm>
            <a:off x="5303520" y="1609344"/>
            <a:ext cx="2743200" cy="320040"/>
          </a:xfrm>
          <a:prstGeom prst="rect">
            <a:avLst/>
          </a:prstGeom>
          <a:noFill/>
          <a:ln/>
        </p:spPr>
        <p:txBody>
          <a:bodyPr wrap="square" lIns="0" tIns="0" rIns="0" bIns="0" rtlCol="0" anchor="t"/>
          <a:lstStyle/>
          <a:p>
            <a:pPr indent="0" marL="0">
              <a:buNone/>
            </a:pPr>
            <a:r>
              <a:rPr lang="en-US" sz="1800" b="1" dirty="0">
                <a:solidFill>
                  <a:srgbClr val="0F2A4A"/>
                </a:solidFill>
                <a:latin typeface="Calibri" pitchFamily="34" charset="0"/>
                <a:ea typeface="Calibri" pitchFamily="34" charset="-122"/>
                <a:cs typeface="Calibri" pitchFamily="34" charset="-120"/>
              </a:rPr>
              <a:t>It never does</a:t>
            </a:r>
            <a:endParaRPr lang="en-US" sz="1800" dirty="0"/>
          </a:p>
        </p:txBody>
      </p:sp>
      <p:sp>
        <p:nvSpPr>
          <p:cNvPr id="12" name="Text 8"/>
          <p:cNvSpPr txBox="1"/>
          <p:nvPr/>
        </p:nvSpPr>
        <p:spPr>
          <a:xfrm>
            <a:off x="4846320" y="2011680"/>
            <a:ext cx="3657600" cy="25603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Blocks a page, a key, or the candidate. Nothing is prevented, only recorded</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Reads or changes the candidate’s answers</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Names other applications. It records that Chrome lost focus, not what was opened</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Sends anything anywhere. Every file stays on the exam machine</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Needs the candidate or the invigilator to click anything during the paper (except one screen-share prompt)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3</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How it works, in one picture</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Everything happens automatically once the settings are saved.</a:t>
            </a:r>
            <a:endParaRPr lang="en-US" sz="1400" dirty="0"/>
          </a:p>
        </p:txBody>
      </p:sp>
      <p:sp>
        <p:nvSpPr>
          <p:cNvPr id="5" name="Shape 3"/>
          <p:cNvSpPr/>
          <p:nvPr/>
        </p:nvSpPr>
        <p:spPr>
          <a:xfrm>
            <a:off x="457200" y="1600200"/>
            <a:ext cx="1572768" cy="2651760"/>
          </a:xfrm>
          <a:prstGeom prst="roundRect">
            <a:avLst>
              <a:gd name="adj" fmla="val 4651"/>
            </a:avLst>
          </a:prstGeom>
          <a:solidFill>
            <a:srgbClr val="F6F5F2"/>
          </a:solidFill>
          <a:ln w="9525">
            <a:solidFill>
              <a:srgbClr val="E6E4DF"/>
            </a:solidFill>
            <a:prstDash val="solid"/>
          </a:ln>
        </p:spPr>
      </p:sp>
      <p:pic>
        <p:nvPicPr>
          <p:cNvPr id="6" name="Image 0" descr="/Users/pawank/DiskAlpha/Development/exameye/docs/deck/img/icons/play-green.png">    </p:cNvPr>
          <p:cNvPicPr>
            <a:picLocks noChangeAspect="1"/>
          </p:cNvPicPr>
          <p:nvPr/>
        </p:nvPicPr>
        <p:blipFill>
          <a:blip r:embed="rId1"/>
          <a:stretch>
            <a:fillRect/>
          </a:stretch>
        </p:blipFill>
        <p:spPr>
          <a:xfrm>
            <a:off x="923544" y="1828800"/>
            <a:ext cx="640080" cy="640080"/>
          </a:xfrm>
          <a:prstGeom prst="rect">
            <a:avLst/>
          </a:prstGeom>
        </p:spPr>
      </p:pic>
      <p:sp>
        <p:nvSpPr>
          <p:cNvPr id="7" name="Text 4"/>
          <p:cNvSpPr txBox="1"/>
          <p:nvPr/>
        </p:nvSpPr>
        <p:spPr>
          <a:xfrm>
            <a:off x="566928" y="2606040"/>
            <a:ext cx="1353312" cy="457200"/>
          </a:xfrm>
          <a:prstGeom prst="rect">
            <a:avLst/>
          </a:prstGeom>
          <a:noFill/>
          <a:ln/>
        </p:spPr>
        <p:txBody>
          <a:bodyPr wrap="square" lIns="0" tIns="0" rIns="0" bIns="0" rtlCol="0" anchor="t"/>
          <a:lstStyle/>
          <a:p>
            <a:pPr algn="ctr" indent="0" marL="0">
              <a:buNone/>
            </a:pPr>
            <a:r>
              <a:rPr lang="en-US" sz="1300" b="1" dirty="0">
                <a:solidFill>
                  <a:srgbClr val="0F2A4A"/>
                </a:solidFill>
                <a:latin typeface="Calibri" pitchFamily="34" charset="0"/>
                <a:ea typeface="Calibri" pitchFamily="34" charset="-122"/>
                <a:cs typeface="Calibri" pitchFamily="34" charset="-120"/>
              </a:rPr>
              <a:t>1. Paper opens</a:t>
            </a:r>
            <a:endParaRPr lang="en-US" sz="1300" dirty="0"/>
          </a:p>
        </p:txBody>
      </p:sp>
      <p:sp>
        <p:nvSpPr>
          <p:cNvPr id="8" name="Text 5"/>
          <p:cNvSpPr txBox="1"/>
          <p:nvPr/>
        </p:nvSpPr>
        <p:spPr>
          <a:xfrm>
            <a:off x="566928" y="3063240"/>
            <a:ext cx="1353312" cy="1097280"/>
          </a:xfrm>
          <a:prstGeom prst="rect">
            <a:avLst/>
          </a:prstGeom>
          <a:noFill/>
          <a:ln/>
        </p:spPr>
        <p:txBody>
          <a:bodyPr wrap="square" lIns="0" tIns="0" rIns="0" bIns="0" rtlCol="0" anchor="t"/>
          <a:lstStyle/>
          <a:p>
            <a:pPr algn="ctr" indent="0" marL="0">
              <a:buNone/>
            </a:pPr>
            <a:r>
              <a:rPr lang="en-US" sz="1100" dirty="0">
                <a:solidFill>
                  <a:srgbClr val="52514E"/>
                </a:solidFill>
                <a:latin typeface="Calibri" pitchFamily="34" charset="0"/>
                <a:ea typeface="Calibri" pitchFamily="34" charset="-122"/>
                <a:cs typeface="Calibri" pitchFamily="34" charset="-120"/>
              </a:rPr>
              <a:t>The candidate lands on the exam start page.</a:t>
            </a:r>
            <a:endParaRPr lang="en-US" sz="1100" dirty="0"/>
          </a:p>
        </p:txBody>
      </p:sp>
      <p:sp>
        <p:nvSpPr>
          <p:cNvPr id="9" name="Text 6"/>
          <p:cNvSpPr txBox="1"/>
          <p:nvPr/>
        </p:nvSpPr>
        <p:spPr>
          <a:xfrm>
            <a:off x="2011680" y="2651760"/>
            <a:ext cx="128016" cy="457200"/>
          </a:xfrm>
          <a:prstGeom prst="rect">
            <a:avLst/>
          </a:prstGeom>
          <a:noFill/>
          <a:ln/>
        </p:spPr>
        <p:txBody>
          <a:bodyPr wrap="square" lIns="0" tIns="0" rIns="0" bIns="0" rtlCol="0" anchor="t"/>
          <a:lstStyle/>
          <a:p>
            <a:pPr algn="ctr" indent="0" marL="0">
              <a:buNone/>
            </a:pPr>
            <a:r>
              <a:rPr lang="en-US" sz="2200" dirty="0">
                <a:solidFill>
                  <a:srgbClr val="898781"/>
                </a:solidFill>
                <a:latin typeface="Calibri" pitchFamily="34" charset="0"/>
                <a:ea typeface="Calibri" pitchFamily="34" charset="-122"/>
                <a:cs typeface="Calibri" pitchFamily="34" charset="-120"/>
              </a:rPr>
              <a:t>›</a:t>
            </a:r>
            <a:endParaRPr lang="en-US" sz="2200" dirty="0"/>
          </a:p>
        </p:txBody>
      </p:sp>
      <p:sp>
        <p:nvSpPr>
          <p:cNvPr id="10" name="Shape 7"/>
          <p:cNvSpPr/>
          <p:nvPr/>
        </p:nvSpPr>
        <p:spPr>
          <a:xfrm>
            <a:off x="2121408" y="1600200"/>
            <a:ext cx="1572768" cy="2651760"/>
          </a:xfrm>
          <a:prstGeom prst="roundRect">
            <a:avLst>
              <a:gd name="adj" fmla="val 4651"/>
            </a:avLst>
          </a:prstGeom>
          <a:solidFill>
            <a:srgbClr val="F6F5F2"/>
          </a:solidFill>
          <a:ln w="9525">
            <a:solidFill>
              <a:srgbClr val="E6E4DF"/>
            </a:solidFill>
            <a:prstDash val="solid"/>
          </a:ln>
        </p:spPr>
      </p:sp>
      <p:pic>
        <p:nvPicPr>
          <p:cNvPr id="11" name="Image 1" descr="/Users/pawank/DiskAlpha/Development/exameye/docs/deck/img/icons/eye-blue.png">    </p:cNvPr>
          <p:cNvPicPr>
            <a:picLocks noChangeAspect="1"/>
          </p:cNvPicPr>
          <p:nvPr/>
        </p:nvPicPr>
        <p:blipFill>
          <a:blip r:embed="rId2"/>
          <a:stretch>
            <a:fillRect/>
          </a:stretch>
        </p:blipFill>
        <p:spPr>
          <a:xfrm>
            <a:off x="2587752" y="1828800"/>
            <a:ext cx="640080" cy="640080"/>
          </a:xfrm>
          <a:prstGeom prst="rect">
            <a:avLst/>
          </a:prstGeom>
        </p:spPr>
      </p:pic>
      <p:sp>
        <p:nvSpPr>
          <p:cNvPr id="12" name="Text 8"/>
          <p:cNvSpPr txBox="1"/>
          <p:nvPr/>
        </p:nvSpPr>
        <p:spPr>
          <a:xfrm>
            <a:off x="2231136" y="2606040"/>
            <a:ext cx="1353312" cy="457200"/>
          </a:xfrm>
          <a:prstGeom prst="rect">
            <a:avLst/>
          </a:prstGeom>
          <a:noFill/>
          <a:ln/>
        </p:spPr>
        <p:txBody>
          <a:bodyPr wrap="square" lIns="0" tIns="0" rIns="0" bIns="0" rtlCol="0" anchor="t"/>
          <a:lstStyle/>
          <a:p>
            <a:pPr algn="ctr" indent="0" marL="0">
              <a:buNone/>
            </a:pPr>
            <a:r>
              <a:rPr lang="en-US" sz="1300" b="1" dirty="0">
                <a:solidFill>
                  <a:srgbClr val="0F2A4A"/>
                </a:solidFill>
                <a:latin typeface="Calibri" pitchFamily="34" charset="0"/>
                <a:ea typeface="Calibri" pitchFamily="34" charset="-122"/>
                <a:cs typeface="Calibri" pitchFamily="34" charset="-120"/>
              </a:rPr>
              <a:t>2. Recording starts</a:t>
            </a:r>
            <a:endParaRPr lang="en-US" sz="1300" dirty="0"/>
          </a:p>
        </p:txBody>
      </p:sp>
      <p:sp>
        <p:nvSpPr>
          <p:cNvPr id="13" name="Text 9"/>
          <p:cNvSpPr txBox="1"/>
          <p:nvPr/>
        </p:nvSpPr>
        <p:spPr>
          <a:xfrm>
            <a:off x="2231136" y="3063240"/>
            <a:ext cx="1353312" cy="1097280"/>
          </a:xfrm>
          <a:prstGeom prst="rect">
            <a:avLst/>
          </a:prstGeom>
          <a:noFill/>
          <a:ln/>
        </p:spPr>
        <p:txBody>
          <a:bodyPr wrap="square" lIns="0" tIns="0" rIns="0" bIns="0" rtlCol="0" anchor="t"/>
          <a:lstStyle/>
          <a:p>
            <a:pPr algn="ctr" indent="0" marL="0">
              <a:buNone/>
            </a:pPr>
            <a:r>
              <a:rPr lang="en-US" sz="1100" dirty="0">
                <a:solidFill>
                  <a:srgbClr val="52514E"/>
                </a:solidFill>
                <a:latin typeface="Calibri" pitchFamily="34" charset="0"/>
                <a:ea typeface="Calibri" pitchFamily="34" charset="-122"/>
                <a:cs typeface="Calibri" pitchFamily="34" charset="-120"/>
              </a:rPr>
              <a:t>ExamEye notices the address and arms itself.</a:t>
            </a:r>
            <a:endParaRPr lang="en-US" sz="1100" dirty="0"/>
          </a:p>
        </p:txBody>
      </p:sp>
      <p:sp>
        <p:nvSpPr>
          <p:cNvPr id="14" name="Text 10"/>
          <p:cNvSpPr txBox="1"/>
          <p:nvPr/>
        </p:nvSpPr>
        <p:spPr>
          <a:xfrm>
            <a:off x="3675888" y="2651760"/>
            <a:ext cx="128016" cy="457200"/>
          </a:xfrm>
          <a:prstGeom prst="rect">
            <a:avLst/>
          </a:prstGeom>
          <a:noFill/>
          <a:ln/>
        </p:spPr>
        <p:txBody>
          <a:bodyPr wrap="square" lIns="0" tIns="0" rIns="0" bIns="0" rtlCol="0" anchor="t"/>
          <a:lstStyle/>
          <a:p>
            <a:pPr algn="ctr" indent="0" marL="0">
              <a:buNone/>
            </a:pPr>
            <a:r>
              <a:rPr lang="en-US" sz="2200" dirty="0">
                <a:solidFill>
                  <a:srgbClr val="898781"/>
                </a:solidFill>
                <a:latin typeface="Calibri" pitchFamily="34" charset="0"/>
                <a:ea typeface="Calibri" pitchFamily="34" charset="-122"/>
                <a:cs typeface="Calibri" pitchFamily="34" charset="-120"/>
              </a:rPr>
              <a:t>›</a:t>
            </a:r>
            <a:endParaRPr lang="en-US" sz="2200" dirty="0"/>
          </a:p>
        </p:txBody>
      </p:sp>
      <p:sp>
        <p:nvSpPr>
          <p:cNvPr id="15" name="Shape 11"/>
          <p:cNvSpPr/>
          <p:nvPr/>
        </p:nvSpPr>
        <p:spPr>
          <a:xfrm>
            <a:off x="3785616" y="1600200"/>
            <a:ext cx="1572768" cy="2651760"/>
          </a:xfrm>
          <a:prstGeom prst="roundRect">
            <a:avLst>
              <a:gd name="adj" fmla="val 4651"/>
            </a:avLst>
          </a:prstGeom>
          <a:solidFill>
            <a:srgbClr val="F6F5F2"/>
          </a:solidFill>
          <a:ln w="9525">
            <a:solidFill>
              <a:srgbClr val="E6E4DF"/>
            </a:solidFill>
            <a:prstDash val="solid"/>
          </a:ln>
        </p:spPr>
      </p:sp>
      <p:pic>
        <p:nvPicPr>
          <p:cNvPr id="16" name="Image 2" descr="/Users/pawank/DiskAlpha/Development/exameye/docs/deck/img/icons/camera-blue.png">    </p:cNvPr>
          <p:cNvPicPr>
            <a:picLocks noChangeAspect="1"/>
          </p:cNvPicPr>
          <p:nvPr/>
        </p:nvPicPr>
        <p:blipFill>
          <a:blip r:embed="rId3"/>
          <a:stretch>
            <a:fillRect/>
          </a:stretch>
        </p:blipFill>
        <p:spPr>
          <a:xfrm>
            <a:off x="4251960" y="1828800"/>
            <a:ext cx="640080" cy="640080"/>
          </a:xfrm>
          <a:prstGeom prst="rect">
            <a:avLst/>
          </a:prstGeom>
        </p:spPr>
      </p:pic>
      <p:sp>
        <p:nvSpPr>
          <p:cNvPr id="17" name="Text 12"/>
          <p:cNvSpPr txBox="1"/>
          <p:nvPr/>
        </p:nvSpPr>
        <p:spPr>
          <a:xfrm>
            <a:off x="3895344" y="2606040"/>
            <a:ext cx="1353312" cy="457200"/>
          </a:xfrm>
          <a:prstGeom prst="rect">
            <a:avLst/>
          </a:prstGeom>
          <a:noFill/>
          <a:ln/>
        </p:spPr>
        <p:txBody>
          <a:bodyPr wrap="square" lIns="0" tIns="0" rIns="0" bIns="0" rtlCol="0" anchor="t"/>
          <a:lstStyle/>
          <a:p>
            <a:pPr algn="ctr" indent="0" marL="0">
              <a:buNone/>
            </a:pPr>
            <a:r>
              <a:rPr lang="en-US" sz="1300" b="1" dirty="0">
                <a:solidFill>
                  <a:srgbClr val="0F2A4A"/>
                </a:solidFill>
                <a:latin typeface="Calibri" pitchFamily="34" charset="0"/>
                <a:ea typeface="Calibri" pitchFamily="34" charset="-122"/>
                <a:cs typeface="Calibri" pitchFamily="34" charset="-120"/>
              </a:rPr>
              <a:t>3. Events and screenshots</a:t>
            </a:r>
            <a:endParaRPr lang="en-US" sz="1300" dirty="0"/>
          </a:p>
        </p:txBody>
      </p:sp>
      <p:sp>
        <p:nvSpPr>
          <p:cNvPr id="18" name="Text 13"/>
          <p:cNvSpPr txBox="1"/>
          <p:nvPr/>
        </p:nvSpPr>
        <p:spPr>
          <a:xfrm>
            <a:off x="3895344" y="3063240"/>
            <a:ext cx="1353312" cy="1097280"/>
          </a:xfrm>
          <a:prstGeom prst="rect">
            <a:avLst/>
          </a:prstGeom>
          <a:noFill/>
          <a:ln/>
        </p:spPr>
        <p:txBody>
          <a:bodyPr wrap="square" lIns="0" tIns="0" rIns="0" bIns="0" rtlCol="0" anchor="t"/>
          <a:lstStyle/>
          <a:p>
            <a:pPr algn="ctr" indent="0" marL="0">
              <a:buNone/>
            </a:pPr>
            <a:r>
              <a:rPr lang="en-US" sz="1100" dirty="0">
                <a:solidFill>
                  <a:srgbClr val="52514E"/>
                </a:solidFill>
                <a:latin typeface="Calibri" pitchFamily="34" charset="0"/>
                <a:ea typeface="Calibri" pitchFamily="34" charset="-122"/>
                <a:cs typeface="Calibri" pitchFamily="34" charset="-120"/>
              </a:rPr>
              <a:t>Tab switches, copy, focus lost… each gets a log line and a picture.</a:t>
            </a:r>
            <a:endParaRPr lang="en-US" sz="1100" dirty="0"/>
          </a:p>
        </p:txBody>
      </p:sp>
      <p:sp>
        <p:nvSpPr>
          <p:cNvPr id="19" name="Text 14"/>
          <p:cNvSpPr txBox="1"/>
          <p:nvPr/>
        </p:nvSpPr>
        <p:spPr>
          <a:xfrm>
            <a:off x="5340096" y="2651760"/>
            <a:ext cx="128016" cy="457200"/>
          </a:xfrm>
          <a:prstGeom prst="rect">
            <a:avLst/>
          </a:prstGeom>
          <a:noFill/>
          <a:ln/>
        </p:spPr>
        <p:txBody>
          <a:bodyPr wrap="square" lIns="0" tIns="0" rIns="0" bIns="0" rtlCol="0" anchor="t"/>
          <a:lstStyle/>
          <a:p>
            <a:pPr algn="ctr" indent="0" marL="0">
              <a:buNone/>
            </a:pPr>
            <a:r>
              <a:rPr lang="en-US" sz="2200" dirty="0">
                <a:solidFill>
                  <a:srgbClr val="898781"/>
                </a:solidFill>
                <a:latin typeface="Calibri" pitchFamily="34" charset="0"/>
                <a:ea typeface="Calibri" pitchFamily="34" charset="-122"/>
                <a:cs typeface="Calibri" pitchFamily="34" charset="-120"/>
              </a:rPr>
              <a:t>›</a:t>
            </a:r>
            <a:endParaRPr lang="en-US" sz="2200" dirty="0"/>
          </a:p>
        </p:txBody>
      </p:sp>
      <p:sp>
        <p:nvSpPr>
          <p:cNvPr id="20" name="Shape 15"/>
          <p:cNvSpPr/>
          <p:nvPr/>
        </p:nvSpPr>
        <p:spPr>
          <a:xfrm>
            <a:off x="5449824" y="1600200"/>
            <a:ext cx="1572768" cy="2651760"/>
          </a:xfrm>
          <a:prstGeom prst="roundRect">
            <a:avLst>
              <a:gd name="adj" fmla="val 4651"/>
            </a:avLst>
          </a:prstGeom>
          <a:solidFill>
            <a:srgbClr val="F6F5F2"/>
          </a:solidFill>
          <a:ln w="9525">
            <a:solidFill>
              <a:srgbClr val="E6E4DF"/>
            </a:solidFill>
            <a:prstDash val="solid"/>
          </a:ln>
        </p:spPr>
      </p:sp>
      <p:pic>
        <p:nvPicPr>
          <p:cNvPr id="21" name="Image 3" descr="/Users/pawank/DiskAlpha/Development/exameye/docs/deck/img/icons/stop-navy.png">    </p:cNvPr>
          <p:cNvPicPr>
            <a:picLocks noChangeAspect="1"/>
          </p:cNvPicPr>
          <p:nvPr/>
        </p:nvPicPr>
        <p:blipFill>
          <a:blip r:embed="rId4"/>
          <a:stretch>
            <a:fillRect/>
          </a:stretch>
        </p:blipFill>
        <p:spPr>
          <a:xfrm>
            <a:off x="5916168" y="1828800"/>
            <a:ext cx="640080" cy="640080"/>
          </a:xfrm>
          <a:prstGeom prst="rect">
            <a:avLst/>
          </a:prstGeom>
        </p:spPr>
      </p:pic>
      <p:sp>
        <p:nvSpPr>
          <p:cNvPr id="22" name="Text 16"/>
          <p:cNvSpPr txBox="1"/>
          <p:nvPr/>
        </p:nvSpPr>
        <p:spPr>
          <a:xfrm>
            <a:off x="5559552" y="2606040"/>
            <a:ext cx="1353312" cy="457200"/>
          </a:xfrm>
          <a:prstGeom prst="rect">
            <a:avLst/>
          </a:prstGeom>
          <a:noFill/>
          <a:ln/>
        </p:spPr>
        <p:txBody>
          <a:bodyPr wrap="square" lIns="0" tIns="0" rIns="0" bIns="0" rtlCol="0" anchor="t"/>
          <a:lstStyle/>
          <a:p>
            <a:pPr algn="ctr" indent="0" marL="0">
              <a:buNone/>
            </a:pPr>
            <a:r>
              <a:rPr lang="en-US" sz="1300" b="1" dirty="0">
                <a:solidFill>
                  <a:srgbClr val="0F2A4A"/>
                </a:solidFill>
                <a:latin typeface="Calibri" pitchFamily="34" charset="0"/>
                <a:ea typeface="Calibri" pitchFamily="34" charset="-122"/>
                <a:cs typeface="Calibri" pitchFamily="34" charset="-120"/>
              </a:rPr>
              <a:t>4. Paper submitted</a:t>
            </a:r>
            <a:endParaRPr lang="en-US" sz="1300" dirty="0"/>
          </a:p>
        </p:txBody>
      </p:sp>
      <p:sp>
        <p:nvSpPr>
          <p:cNvPr id="23" name="Text 17"/>
          <p:cNvSpPr txBox="1"/>
          <p:nvPr/>
        </p:nvSpPr>
        <p:spPr>
          <a:xfrm>
            <a:off x="5559552" y="3063240"/>
            <a:ext cx="1353312" cy="1097280"/>
          </a:xfrm>
          <a:prstGeom prst="rect">
            <a:avLst/>
          </a:prstGeom>
          <a:noFill/>
          <a:ln/>
        </p:spPr>
        <p:txBody>
          <a:bodyPr wrap="square" lIns="0" tIns="0" rIns="0" bIns="0" rtlCol="0" anchor="t"/>
          <a:lstStyle/>
          <a:p>
            <a:pPr algn="ctr" indent="0" marL="0">
              <a:buNone/>
            </a:pPr>
            <a:r>
              <a:rPr lang="en-US" sz="1100" dirty="0">
                <a:solidFill>
                  <a:srgbClr val="52514E"/>
                </a:solidFill>
                <a:latin typeface="Calibri" pitchFamily="34" charset="0"/>
                <a:ea typeface="Calibri" pitchFamily="34" charset="-122"/>
                <a:cs typeface="Calibri" pitchFamily="34" charset="-120"/>
              </a:rPr>
              <a:t>The submit button, a result page, or a phrase on screen ends it.</a:t>
            </a:r>
            <a:endParaRPr lang="en-US" sz="1100" dirty="0"/>
          </a:p>
        </p:txBody>
      </p:sp>
      <p:sp>
        <p:nvSpPr>
          <p:cNvPr id="24" name="Text 18"/>
          <p:cNvSpPr txBox="1"/>
          <p:nvPr/>
        </p:nvSpPr>
        <p:spPr>
          <a:xfrm>
            <a:off x="7004304" y="2651760"/>
            <a:ext cx="128016" cy="457200"/>
          </a:xfrm>
          <a:prstGeom prst="rect">
            <a:avLst/>
          </a:prstGeom>
          <a:noFill/>
          <a:ln/>
        </p:spPr>
        <p:txBody>
          <a:bodyPr wrap="square" lIns="0" tIns="0" rIns="0" bIns="0" rtlCol="0" anchor="t"/>
          <a:lstStyle/>
          <a:p>
            <a:pPr algn="ctr" indent="0" marL="0">
              <a:buNone/>
            </a:pPr>
            <a:r>
              <a:rPr lang="en-US" sz="2200" dirty="0">
                <a:solidFill>
                  <a:srgbClr val="898781"/>
                </a:solidFill>
                <a:latin typeface="Calibri" pitchFamily="34" charset="0"/>
                <a:ea typeface="Calibri" pitchFamily="34" charset="-122"/>
                <a:cs typeface="Calibri" pitchFamily="34" charset="-120"/>
              </a:rPr>
              <a:t>›</a:t>
            </a:r>
            <a:endParaRPr lang="en-US" sz="2200" dirty="0"/>
          </a:p>
        </p:txBody>
      </p:sp>
      <p:sp>
        <p:nvSpPr>
          <p:cNvPr id="25" name="Shape 19"/>
          <p:cNvSpPr/>
          <p:nvPr/>
        </p:nvSpPr>
        <p:spPr>
          <a:xfrm>
            <a:off x="7114032" y="1600200"/>
            <a:ext cx="1572768" cy="2651760"/>
          </a:xfrm>
          <a:prstGeom prst="roundRect">
            <a:avLst>
              <a:gd name="adj" fmla="val 4651"/>
            </a:avLst>
          </a:prstGeom>
          <a:solidFill>
            <a:srgbClr val="F6F5F2"/>
          </a:solidFill>
          <a:ln w="9525">
            <a:solidFill>
              <a:srgbClr val="E6E4DF"/>
            </a:solidFill>
            <a:prstDash val="solid"/>
          </a:ln>
        </p:spPr>
      </p:sp>
      <p:pic>
        <p:nvPicPr>
          <p:cNvPr id="26" name="Image 4" descr="/Users/pawank/DiskAlpha/Development/exameye/docs/deck/img/icons/folder-amber.png">    </p:cNvPr>
          <p:cNvPicPr>
            <a:picLocks noChangeAspect="1"/>
          </p:cNvPicPr>
          <p:nvPr/>
        </p:nvPicPr>
        <p:blipFill>
          <a:blip r:embed="rId5"/>
          <a:stretch>
            <a:fillRect/>
          </a:stretch>
        </p:blipFill>
        <p:spPr>
          <a:xfrm>
            <a:off x="7580376" y="1828800"/>
            <a:ext cx="640080" cy="640080"/>
          </a:xfrm>
          <a:prstGeom prst="rect">
            <a:avLst/>
          </a:prstGeom>
        </p:spPr>
      </p:pic>
      <p:sp>
        <p:nvSpPr>
          <p:cNvPr id="27" name="Text 20"/>
          <p:cNvSpPr txBox="1"/>
          <p:nvPr/>
        </p:nvSpPr>
        <p:spPr>
          <a:xfrm>
            <a:off x="7223760" y="2606040"/>
            <a:ext cx="1353312" cy="457200"/>
          </a:xfrm>
          <a:prstGeom prst="rect">
            <a:avLst/>
          </a:prstGeom>
          <a:noFill/>
          <a:ln/>
        </p:spPr>
        <p:txBody>
          <a:bodyPr wrap="square" lIns="0" tIns="0" rIns="0" bIns="0" rtlCol="0" anchor="t"/>
          <a:lstStyle/>
          <a:p>
            <a:pPr algn="ctr" indent="0" marL="0">
              <a:buNone/>
            </a:pPr>
            <a:r>
              <a:rPr lang="en-US" sz="1300" b="1" dirty="0">
                <a:solidFill>
                  <a:srgbClr val="0F2A4A"/>
                </a:solidFill>
                <a:latin typeface="Calibri" pitchFamily="34" charset="0"/>
                <a:ea typeface="Calibri" pitchFamily="34" charset="-122"/>
                <a:cs typeface="Calibri" pitchFamily="34" charset="-120"/>
              </a:rPr>
              <a:t>5. Folder written</a:t>
            </a:r>
            <a:endParaRPr lang="en-US" sz="1300" dirty="0"/>
          </a:p>
        </p:txBody>
      </p:sp>
      <p:sp>
        <p:nvSpPr>
          <p:cNvPr id="28" name="Text 21"/>
          <p:cNvSpPr txBox="1"/>
          <p:nvPr/>
        </p:nvSpPr>
        <p:spPr>
          <a:xfrm>
            <a:off x="7223760" y="3063240"/>
            <a:ext cx="1353312" cy="1097280"/>
          </a:xfrm>
          <a:prstGeom prst="rect">
            <a:avLst/>
          </a:prstGeom>
          <a:noFill/>
          <a:ln/>
        </p:spPr>
        <p:txBody>
          <a:bodyPr wrap="square" lIns="0" tIns="0" rIns="0" bIns="0" rtlCol="0" anchor="t"/>
          <a:lstStyle/>
          <a:p>
            <a:pPr algn="ctr" indent="0" marL="0">
              <a:buNone/>
            </a:pPr>
            <a:r>
              <a:rPr lang="en-US" sz="1100" dirty="0">
                <a:solidFill>
                  <a:srgbClr val="52514E"/>
                </a:solidFill>
                <a:latin typeface="Calibri" pitchFamily="34" charset="0"/>
                <a:ea typeface="Calibri" pitchFamily="34" charset="-122"/>
                <a:cs typeface="Calibri" pitchFamily="34" charset="-120"/>
              </a:rPr>
              <a:t>Log, screenshots and a report land in the Downloads folder.</a:t>
            </a:r>
            <a:endParaRPr lang="en-US" sz="1100" dirty="0"/>
          </a:p>
        </p:txBody>
      </p:sp>
      <p:sp>
        <p:nvSpPr>
          <p:cNvPr id="29" name="Text 22"/>
          <p:cNvSpPr txBox="1"/>
          <p:nvPr/>
        </p:nvSpPr>
        <p:spPr>
          <a:xfrm>
            <a:off x="457200" y="4434840"/>
            <a:ext cx="8229600" cy="365760"/>
          </a:xfrm>
          <a:prstGeom prst="rect">
            <a:avLst/>
          </a:prstGeom>
          <a:noFill/>
          <a:ln/>
        </p:spPr>
        <p:txBody>
          <a:bodyPr wrap="square" lIns="0" tIns="0" rIns="0" bIns="0" rtlCol="0" anchor="t"/>
          <a:lstStyle/>
          <a:p>
            <a:pPr indent="0" marL="0">
              <a:buNone/>
            </a:pPr>
            <a:r>
              <a:rPr lang="en-US" sz="1150" i="1" dirty="0">
                <a:solidFill>
                  <a:srgbClr val="52514E"/>
                </a:solidFill>
                <a:latin typeface="Calibri" pitchFamily="34" charset="0"/>
                <a:ea typeface="Calibri" pitchFamily="34" charset="-122"/>
                <a:cs typeface="Calibri" pitchFamily="34" charset="-120"/>
              </a:rPr>
              <a:t>A paper that is never submitted still ends: after the maximum length you set, or once the exam tab has been gone for a while.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4</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What gets recorded</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Each of these becomes a line in the log and, in most cases, a screenshot.</a:t>
            </a:r>
            <a:endParaRPr lang="en-US" sz="1400" dirty="0"/>
          </a:p>
        </p:txBody>
      </p:sp>
      <p:sp>
        <p:nvSpPr>
          <p:cNvPr id="5" name="Shape 3"/>
          <p:cNvSpPr/>
          <p:nvPr/>
        </p:nvSpPr>
        <p:spPr>
          <a:xfrm>
            <a:off x="457200" y="1463040"/>
            <a:ext cx="1609344" cy="1417320"/>
          </a:xfrm>
          <a:prstGeom prst="roundRect">
            <a:avLst>
              <a:gd name="adj" fmla="val 5161"/>
            </a:avLst>
          </a:prstGeom>
          <a:solidFill>
            <a:srgbClr val="F6F5F2"/>
          </a:solidFill>
          <a:ln w="9525">
            <a:solidFill>
              <a:srgbClr val="E6E4DF"/>
            </a:solidFill>
            <a:prstDash val="solid"/>
          </a:ln>
        </p:spPr>
      </p:sp>
      <p:pic>
        <p:nvPicPr>
          <p:cNvPr id="6" name="Image 0" descr="/Users/pawank/DiskAlpha/Development/exameye/docs/deck/img/icons/tabs-blue.png">    </p:cNvPr>
          <p:cNvPicPr>
            <a:picLocks noChangeAspect="1"/>
          </p:cNvPicPr>
          <p:nvPr/>
        </p:nvPicPr>
        <p:blipFill>
          <a:blip r:embed="rId1"/>
          <a:stretch>
            <a:fillRect/>
          </a:stretch>
        </p:blipFill>
        <p:spPr>
          <a:xfrm>
            <a:off x="566928" y="1572768"/>
            <a:ext cx="365760" cy="365760"/>
          </a:xfrm>
          <a:prstGeom prst="rect">
            <a:avLst/>
          </a:prstGeom>
        </p:spPr>
      </p:pic>
      <p:sp>
        <p:nvSpPr>
          <p:cNvPr id="7" name="Text 4"/>
          <p:cNvSpPr txBox="1"/>
          <p:nvPr/>
        </p:nvSpPr>
        <p:spPr>
          <a:xfrm>
            <a:off x="566928" y="1993392"/>
            <a:ext cx="1389888" cy="384048"/>
          </a:xfrm>
          <a:prstGeom prst="rect">
            <a:avLst/>
          </a:prstGeom>
          <a:noFill/>
          <a:ln/>
        </p:spPr>
        <p:txBody>
          <a:bodyPr wrap="square" lIns="0" tIns="0" rIns="0" bIns="0" rtlCol="0" anchor="t"/>
          <a:lstStyle/>
          <a:p>
            <a:pPr indent="0" marL="0">
              <a:buNone/>
            </a:pPr>
            <a:r>
              <a:rPr lang="en-US" sz="1200" b="1" dirty="0">
                <a:solidFill>
                  <a:srgbClr val="0F2A4A"/>
                </a:solidFill>
                <a:latin typeface="Calibri" pitchFamily="34" charset="0"/>
                <a:ea typeface="Calibri" pitchFamily="34" charset="-122"/>
                <a:cs typeface="Calibri" pitchFamily="34" charset="-120"/>
              </a:rPr>
              <a:t>Other tabs and pages</a:t>
            </a:r>
            <a:endParaRPr lang="en-US" sz="1200" dirty="0"/>
          </a:p>
        </p:txBody>
      </p:sp>
      <p:sp>
        <p:nvSpPr>
          <p:cNvPr id="8" name="Text 5"/>
          <p:cNvSpPr txBox="1"/>
          <p:nvPr/>
        </p:nvSpPr>
        <p:spPr>
          <a:xfrm>
            <a:off x="566928" y="2377440"/>
            <a:ext cx="1389888"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Switching to another tab, and which page it was</a:t>
            </a:r>
            <a:endParaRPr lang="en-US" sz="1050" dirty="0"/>
          </a:p>
        </p:txBody>
      </p:sp>
      <p:sp>
        <p:nvSpPr>
          <p:cNvPr id="9" name="Shape 6"/>
          <p:cNvSpPr/>
          <p:nvPr/>
        </p:nvSpPr>
        <p:spPr>
          <a:xfrm>
            <a:off x="2112264" y="1463040"/>
            <a:ext cx="1609344" cy="1417320"/>
          </a:xfrm>
          <a:prstGeom prst="roundRect">
            <a:avLst>
              <a:gd name="adj" fmla="val 5161"/>
            </a:avLst>
          </a:prstGeom>
          <a:solidFill>
            <a:srgbClr val="F6F5F2"/>
          </a:solidFill>
          <a:ln w="9525">
            <a:solidFill>
              <a:srgbClr val="E6E4DF"/>
            </a:solidFill>
            <a:prstDash val="solid"/>
          </a:ln>
        </p:spPr>
      </p:sp>
      <p:pic>
        <p:nvPicPr>
          <p:cNvPr id="10" name="Image 1" descr="/Users/pawank/DiskAlpha/Development/exameye/docs/deck/img/icons/monitor-blue.png">    </p:cNvPr>
          <p:cNvPicPr>
            <a:picLocks noChangeAspect="1"/>
          </p:cNvPicPr>
          <p:nvPr/>
        </p:nvPicPr>
        <p:blipFill>
          <a:blip r:embed="rId2"/>
          <a:stretch>
            <a:fillRect/>
          </a:stretch>
        </p:blipFill>
        <p:spPr>
          <a:xfrm>
            <a:off x="2221992" y="1572768"/>
            <a:ext cx="365760" cy="365760"/>
          </a:xfrm>
          <a:prstGeom prst="rect">
            <a:avLst/>
          </a:prstGeom>
        </p:spPr>
      </p:pic>
      <p:sp>
        <p:nvSpPr>
          <p:cNvPr id="11" name="Text 7"/>
          <p:cNvSpPr txBox="1"/>
          <p:nvPr/>
        </p:nvSpPr>
        <p:spPr>
          <a:xfrm>
            <a:off x="2221992" y="1993392"/>
            <a:ext cx="1389888" cy="384048"/>
          </a:xfrm>
          <a:prstGeom prst="rect">
            <a:avLst/>
          </a:prstGeom>
          <a:noFill/>
          <a:ln/>
        </p:spPr>
        <p:txBody>
          <a:bodyPr wrap="square" lIns="0" tIns="0" rIns="0" bIns="0" rtlCol="0" anchor="t"/>
          <a:lstStyle/>
          <a:p>
            <a:pPr indent="0" marL="0">
              <a:buNone/>
            </a:pPr>
            <a:r>
              <a:rPr lang="en-US" sz="1200" b="1" dirty="0">
                <a:solidFill>
                  <a:srgbClr val="0F2A4A"/>
                </a:solidFill>
                <a:latin typeface="Calibri" pitchFamily="34" charset="0"/>
                <a:ea typeface="Calibri" pitchFamily="34" charset="-122"/>
                <a:cs typeface="Calibri" pitchFamily="34" charset="-120"/>
              </a:rPr>
              <a:t>Leaving Chrome</a:t>
            </a:r>
            <a:endParaRPr lang="en-US" sz="1200" dirty="0"/>
          </a:p>
        </p:txBody>
      </p:sp>
      <p:sp>
        <p:nvSpPr>
          <p:cNvPr id="12" name="Text 8"/>
          <p:cNvSpPr txBox="1"/>
          <p:nvPr/>
        </p:nvSpPr>
        <p:spPr>
          <a:xfrm>
            <a:off x="2221992" y="2377440"/>
            <a:ext cx="1389888"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Another application in front, and for how long</a:t>
            </a:r>
            <a:endParaRPr lang="en-US" sz="1050" dirty="0"/>
          </a:p>
        </p:txBody>
      </p:sp>
      <p:sp>
        <p:nvSpPr>
          <p:cNvPr id="13" name="Shape 9"/>
          <p:cNvSpPr/>
          <p:nvPr/>
        </p:nvSpPr>
        <p:spPr>
          <a:xfrm>
            <a:off x="3767328" y="1463040"/>
            <a:ext cx="1609344" cy="1417320"/>
          </a:xfrm>
          <a:prstGeom prst="roundRect">
            <a:avLst>
              <a:gd name="adj" fmla="val 5161"/>
            </a:avLst>
          </a:prstGeom>
          <a:solidFill>
            <a:srgbClr val="F6F5F2"/>
          </a:solidFill>
          <a:ln w="9525">
            <a:solidFill>
              <a:srgbClr val="E6E4DF"/>
            </a:solidFill>
            <a:prstDash val="solid"/>
          </a:ln>
        </p:spPr>
      </p:sp>
      <p:pic>
        <p:nvPicPr>
          <p:cNvPr id="14" name="Image 2" descr="/Users/pawank/DiskAlpha/Development/exameye/docs/deck/img/icons/clipboard-blue.png">    </p:cNvPr>
          <p:cNvPicPr>
            <a:picLocks noChangeAspect="1"/>
          </p:cNvPicPr>
          <p:nvPr/>
        </p:nvPicPr>
        <p:blipFill>
          <a:blip r:embed="rId3"/>
          <a:stretch>
            <a:fillRect/>
          </a:stretch>
        </p:blipFill>
        <p:spPr>
          <a:xfrm>
            <a:off x="3877056" y="1572768"/>
            <a:ext cx="365760" cy="365760"/>
          </a:xfrm>
          <a:prstGeom prst="rect">
            <a:avLst/>
          </a:prstGeom>
        </p:spPr>
      </p:pic>
      <p:sp>
        <p:nvSpPr>
          <p:cNvPr id="15" name="Text 10"/>
          <p:cNvSpPr txBox="1"/>
          <p:nvPr/>
        </p:nvSpPr>
        <p:spPr>
          <a:xfrm>
            <a:off x="3877056" y="1993392"/>
            <a:ext cx="1389888" cy="384048"/>
          </a:xfrm>
          <a:prstGeom prst="rect">
            <a:avLst/>
          </a:prstGeom>
          <a:noFill/>
          <a:ln/>
        </p:spPr>
        <p:txBody>
          <a:bodyPr wrap="square" lIns="0" tIns="0" rIns="0" bIns="0" rtlCol="0" anchor="t"/>
          <a:lstStyle/>
          <a:p>
            <a:pPr indent="0" marL="0">
              <a:buNone/>
            </a:pPr>
            <a:r>
              <a:rPr lang="en-US" sz="1200" b="1" dirty="0">
                <a:solidFill>
                  <a:srgbClr val="0F2A4A"/>
                </a:solidFill>
                <a:latin typeface="Calibri" pitchFamily="34" charset="0"/>
                <a:ea typeface="Calibri" pitchFamily="34" charset="-122"/>
                <a:cs typeface="Calibri" pitchFamily="34" charset="-120"/>
              </a:rPr>
              <a:t>Copy, cut, paste, print, drag</a:t>
            </a:r>
            <a:endParaRPr lang="en-US" sz="1200" dirty="0"/>
          </a:p>
        </p:txBody>
      </p:sp>
      <p:sp>
        <p:nvSpPr>
          <p:cNvPr id="16" name="Text 11"/>
          <p:cNvSpPr txBox="1"/>
          <p:nvPr/>
        </p:nvSpPr>
        <p:spPr>
          <a:xfrm>
            <a:off x="3877056" y="2377440"/>
            <a:ext cx="1389888"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And the length of the text involved</a:t>
            </a:r>
            <a:endParaRPr lang="en-US" sz="1050" dirty="0"/>
          </a:p>
        </p:txBody>
      </p:sp>
      <p:sp>
        <p:nvSpPr>
          <p:cNvPr id="17" name="Shape 12"/>
          <p:cNvSpPr/>
          <p:nvPr/>
        </p:nvSpPr>
        <p:spPr>
          <a:xfrm>
            <a:off x="5422392" y="1463040"/>
            <a:ext cx="1609344" cy="1417320"/>
          </a:xfrm>
          <a:prstGeom prst="roundRect">
            <a:avLst>
              <a:gd name="adj" fmla="val 5161"/>
            </a:avLst>
          </a:prstGeom>
          <a:solidFill>
            <a:srgbClr val="F6F5F2"/>
          </a:solidFill>
          <a:ln w="9525">
            <a:solidFill>
              <a:srgbClr val="E6E4DF"/>
            </a:solidFill>
            <a:prstDash val="solid"/>
          </a:ln>
        </p:spPr>
      </p:sp>
      <p:pic>
        <p:nvPicPr>
          <p:cNvPr id="18" name="Image 3" descr="/Users/pawank/DiskAlpha/Development/exameye/docs/deck/img/icons/download-blue.png">    </p:cNvPr>
          <p:cNvPicPr>
            <a:picLocks noChangeAspect="1"/>
          </p:cNvPicPr>
          <p:nvPr/>
        </p:nvPicPr>
        <p:blipFill>
          <a:blip r:embed="rId4"/>
          <a:stretch>
            <a:fillRect/>
          </a:stretch>
        </p:blipFill>
        <p:spPr>
          <a:xfrm>
            <a:off x="5532120" y="1572768"/>
            <a:ext cx="365760" cy="365760"/>
          </a:xfrm>
          <a:prstGeom prst="rect">
            <a:avLst/>
          </a:prstGeom>
        </p:spPr>
      </p:pic>
      <p:sp>
        <p:nvSpPr>
          <p:cNvPr id="19" name="Text 13"/>
          <p:cNvSpPr txBox="1"/>
          <p:nvPr/>
        </p:nvSpPr>
        <p:spPr>
          <a:xfrm>
            <a:off x="5532120" y="1993392"/>
            <a:ext cx="1389888" cy="384048"/>
          </a:xfrm>
          <a:prstGeom prst="rect">
            <a:avLst/>
          </a:prstGeom>
          <a:noFill/>
          <a:ln/>
        </p:spPr>
        <p:txBody>
          <a:bodyPr wrap="square" lIns="0" tIns="0" rIns="0" bIns="0" rtlCol="0" anchor="t"/>
          <a:lstStyle/>
          <a:p>
            <a:pPr indent="0" marL="0">
              <a:buNone/>
            </a:pPr>
            <a:r>
              <a:rPr lang="en-US" sz="1200" b="1" dirty="0">
                <a:solidFill>
                  <a:srgbClr val="0F2A4A"/>
                </a:solidFill>
                <a:latin typeface="Calibri" pitchFamily="34" charset="0"/>
                <a:ea typeface="Calibri" pitchFamily="34" charset="-122"/>
                <a:cs typeface="Calibri" pitchFamily="34" charset="-120"/>
              </a:rPr>
              <a:t>Downloads</a:t>
            </a:r>
            <a:endParaRPr lang="en-US" sz="1200" dirty="0"/>
          </a:p>
        </p:txBody>
      </p:sp>
      <p:sp>
        <p:nvSpPr>
          <p:cNvPr id="20" name="Text 14"/>
          <p:cNvSpPr txBox="1"/>
          <p:nvPr/>
        </p:nvSpPr>
        <p:spPr>
          <a:xfrm>
            <a:off x="5532120" y="2377440"/>
            <a:ext cx="1389888"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Any file the candidate downloads</a:t>
            </a:r>
            <a:endParaRPr lang="en-US" sz="1050" dirty="0"/>
          </a:p>
        </p:txBody>
      </p:sp>
      <p:sp>
        <p:nvSpPr>
          <p:cNvPr id="21" name="Shape 15"/>
          <p:cNvSpPr/>
          <p:nvPr/>
        </p:nvSpPr>
        <p:spPr>
          <a:xfrm>
            <a:off x="7077456" y="1463040"/>
            <a:ext cx="1609344" cy="1417320"/>
          </a:xfrm>
          <a:prstGeom prst="roundRect">
            <a:avLst>
              <a:gd name="adj" fmla="val 5161"/>
            </a:avLst>
          </a:prstGeom>
          <a:solidFill>
            <a:srgbClr val="F6F5F2"/>
          </a:solidFill>
          <a:ln w="9525">
            <a:solidFill>
              <a:srgbClr val="E6E4DF"/>
            </a:solidFill>
            <a:prstDash val="solid"/>
          </a:ln>
        </p:spPr>
      </p:sp>
      <p:pic>
        <p:nvPicPr>
          <p:cNvPr id="22" name="Image 4" descr="/Users/pawank/DiskAlpha/Development/exameye/docs/deck/img/icons/warning-blue.png">    </p:cNvPr>
          <p:cNvPicPr>
            <a:picLocks noChangeAspect="1"/>
          </p:cNvPicPr>
          <p:nvPr/>
        </p:nvPicPr>
        <p:blipFill>
          <a:blip r:embed="rId5"/>
          <a:stretch>
            <a:fillRect/>
          </a:stretch>
        </p:blipFill>
        <p:spPr>
          <a:xfrm>
            <a:off x="7187184" y="1572768"/>
            <a:ext cx="365760" cy="365760"/>
          </a:xfrm>
          <a:prstGeom prst="rect">
            <a:avLst/>
          </a:prstGeom>
        </p:spPr>
      </p:pic>
      <p:sp>
        <p:nvSpPr>
          <p:cNvPr id="23" name="Text 16"/>
          <p:cNvSpPr txBox="1"/>
          <p:nvPr/>
        </p:nvSpPr>
        <p:spPr>
          <a:xfrm>
            <a:off x="7187184" y="1993392"/>
            <a:ext cx="1389888" cy="384048"/>
          </a:xfrm>
          <a:prstGeom prst="rect">
            <a:avLst/>
          </a:prstGeom>
          <a:noFill/>
          <a:ln/>
        </p:spPr>
        <p:txBody>
          <a:bodyPr wrap="square" lIns="0" tIns="0" rIns="0" bIns="0" rtlCol="0" anchor="t"/>
          <a:lstStyle/>
          <a:p>
            <a:pPr indent="0" marL="0">
              <a:buNone/>
            </a:pPr>
            <a:r>
              <a:rPr lang="en-US" sz="1200" b="1" dirty="0">
                <a:solidFill>
                  <a:srgbClr val="0F2A4A"/>
                </a:solidFill>
                <a:latin typeface="Calibri" pitchFamily="34" charset="0"/>
                <a:ea typeface="Calibri" pitchFamily="34" charset="-122"/>
                <a:cs typeface="Calibri" pitchFamily="34" charset="-120"/>
              </a:rPr>
              <a:t>Window changes</a:t>
            </a:r>
            <a:endParaRPr lang="en-US" sz="1200" dirty="0"/>
          </a:p>
        </p:txBody>
      </p:sp>
      <p:sp>
        <p:nvSpPr>
          <p:cNvPr id="24" name="Text 17"/>
          <p:cNvSpPr txBox="1"/>
          <p:nvPr/>
        </p:nvSpPr>
        <p:spPr>
          <a:xfrm>
            <a:off x="7187184" y="2377440"/>
            <a:ext cx="1389888"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Minimised, restored, fullscreen left</a:t>
            </a:r>
            <a:endParaRPr lang="en-US" sz="1050" dirty="0"/>
          </a:p>
        </p:txBody>
      </p:sp>
      <p:sp>
        <p:nvSpPr>
          <p:cNvPr id="25" name="Shape 18"/>
          <p:cNvSpPr/>
          <p:nvPr/>
        </p:nvSpPr>
        <p:spPr>
          <a:xfrm>
            <a:off x="457200" y="3017520"/>
            <a:ext cx="1609344" cy="1417320"/>
          </a:xfrm>
          <a:prstGeom prst="roundRect">
            <a:avLst>
              <a:gd name="adj" fmla="val 5161"/>
            </a:avLst>
          </a:prstGeom>
          <a:solidFill>
            <a:srgbClr val="F6F5F2"/>
          </a:solidFill>
          <a:ln w="9525">
            <a:solidFill>
              <a:srgbClr val="E6E4DF"/>
            </a:solidFill>
            <a:prstDash val="solid"/>
          </a:ln>
        </p:spPr>
      </p:sp>
      <p:pic>
        <p:nvPicPr>
          <p:cNvPr id="26" name="Image 5" descr="/Users/pawank/DiskAlpha/Development/exameye/docs/deck/img/icons/lock-blue.png">    </p:cNvPr>
          <p:cNvPicPr>
            <a:picLocks noChangeAspect="1"/>
          </p:cNvPicPr>
          <p:nvPr/>
        </p:nvPicPr>
        <p:blipFill>
          <a:blip r:embed="rId6"/>
          <a:stretch>
            <a:fillRect/>
          </a:stretch>
        </p:blipFill>
        <p:spPr>
          <a:xfrm>
            <a:off x="566928" y="3127248"/>
            <a:ext cx="365760" cy="365760"/>
          </a:xfrm>
          <a:prstGeom prst="rect">
            <a:avLst/>
          </a:prstGeom>
        </p:spPr>
      </p:pic>
      <p:sp>
        <p:nvSpPr>
          <p:cNvPr id="27" name="Text 19"/>
          <p:cNvSpPr txBox="1"/>
          <p:nvPr/>
        </p:nvSpPr>
        <p:spPr>
          <a:xfrm>
            <a:off x="566928" y="3547872"/>
            <a:ext cx="1389888" cy="384048"/>
          </a:xfrm>
          <a:prstGeom prst="rect">
            <a:avLst/>
          </a:prstGeom>
          <a:noFill/>
          <a:ln/>
        </p:spPr>
        <p:txBody>
          <a:bodyPr wrap="square" lIns="0" tIns="0" rIns="0" bIns="0" rtlCol="0" anchor="t"/>
          <a:lstStyle/>
          <a:p>
            <a:pPr indent="0" marL="0">
              <a:buNone/>
            </a:pPr>
            <a:r>
              <a:rPr lang="en-US" sz="1200" b="1" dirty="0">
                <a:solidFill>
                  <a:srgbClr val="0F2A4A"/>
                </a:solidFill>
                <a:latin typeface="Calibri" pitchFamily="34" charset="0"/>
                <a:ea typeface="Calibri" pitchFamily="34" charset="-122"/>
                <a:cs typeface="Calibri" pitchFamily="34" charset="-120"/>
              </a:rPr>
              <a:t>Screen lock or idle</a:t>
            </a:r>
            <a:endParaRPr lang="en-US" sz="1200" dirty="0"/>
          </a:p>
        </p:txBody>
      </p:sp>
      <p:sp>
        <p:nvSpPr>
          <p:cNvPr id="28" name="Text 20"/>
          <p:cNvSpPr txBox="1"/>
          <p:nvPr/>
        </p:nvSpPr>
        <p:spPr>
          <a:xfrm>
            <a:off x="566928" y="3931920"/>
            <a:ext cx="1389888"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The screensaver, the lock screen, long inactivity</a:t>
            </a:r>
            <a:endParaRPr lang="en-US" sz="1050" dirty="0"/>
          </a:p>
        </p:txBody>
      </p:sp>
      <p:sp>
        <p:nvSpPr>
          <p:cNvPr id="29" name="Shape 21"/>
          <p:cNvSpPr/>
          <p:nvPr/>
        </p:nvSpPr>
        <p:spPr>
          <a:xfrm>
            <a:off x="2112264" y="3017520"/>
            <a:ext cx="1609344" cy="1417320"/>
          </a:xfrm>
          <a:prstGeom prst="roundRect">
            <a:avLst>
              <a:gd name="adj" fmla="val 5161"/>
            </a:avLst>
          </a:prstGeom>
          <a:solidFill>
            <a:srgbClr val="F6F5F2"/>
          </a:solidFill>
          <a:ln w="9525">
            <a:solidFill>
              <a:srgbClr val="E6E4DF"/>
            </a:solidFill>
            <a:prstDash val="solid"/>
          </a:ln>
        </p:spPr>
      </p:sp>
      <p:pic>
        <p:nvPicPr>
          <p:cNvPr id="30" name="Image 6" descr="/Users/pawank/DiskAlpha/Development/exameye/docs/deck/img/icons/gear-blue.png">    </p:cNvPr>
          <p:cNvPicPr>
            <a:picLocks noChangeAspect="1"/>
          </p:cNvPicPr>
          <p:nvPr/>
        </p:nvPicPr>
        <p:blipFill>
          <a:blip r:embed="rId7"/>
          <a:stretch>
            <a:fillRect/>
          </a:stretch>
        </p:blipFill>
        <p:spPr>
          <a:xfrm>
            <a:off x="2221992" y="3127248"/>
            <a:ext cx="365760" cy="365760"/>
          </a:xfrm>
          <a:prstGeom prst="rect">
            <a:avLst/>
          </a:prstGeom>
        </p:spPr>
      </p:pic>
      <p:sp>
        <p:nvSpPr>
          <p:cNvPr id="31" name="Text 22"/>
          <p:cNvSpPr txBox="1"/>
          <p:nvPr/>
        </p:nvSpPr>
        <p:spPr>
          <a:xfrm>
            <a:off x="2221992" y="3547872"/>
            <a:ext cx="1389888" cy="384048"/>
          </a:xfrm>
          <a:prstGeom prst="rect">
            <a:avLst/>
          </a:prstGeom>
          <a:noFill/>
          <a:ln/>
        </p:spPr>
        <p:txBody>
          <a:bodyPr wrap="square" lIns="0" tIns="0" rIns="0" bIns="0" rtlCol="0" anchor="t"/>
          <a:lstStyle/>
          <a:p>
            <a:pPr indent="0" marL="0">
              <a:buNone/>
            </a:pPr>
            <a:r>
              <a:rPr lang="en-US" sz="1200" b="1" dirty="0">
                <a:solidFill>
                  <a:srgbClr val="0F2A4A"/>
                </a:solidFill>
                <a:latin typeface="Calibri" pitchFamily="34" charset="0"/>
                <a:ea typeface="Calibri" pitchFamily="34" charset="-122"/>
                <a:cs typeface="Calibri" pitchFamily="34" charset="-120"/>
              </a:rPr>
              <a:t>Developer tools</a:t>
            </a:r>
            <a:endParaRPr lang="en-US" sz="1200" dirty="0"/>
          </a:p>
        </p:txBody>
      </p:sp>
      <p:sp>
        <p:nvSpPr>
          <p:cNvPr id="32" name="Text 23"/>
          <p:cNvSpPr txBox="1"/>
          <p:nvPr/>
        </p:nvSpPr>
        <p:spPr>
          <a:xfrm>
            <a:off x="2221992" y="3931920"/>
            <a:ext cx="1389888"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The browser’s inspection panel being opened</a:t>
            </a:r>
            <a:endParaRPr lang="en-US" sz="1050" dirty="0"/>
          </a:p>
        </p:txBody>
      </p:sp>
      <p:sp>
        <p:nvSpPr>
          <p:cNvPr id="33" name="Shape 24"/>
          <p:cNvSpPr/>
          <p:nvPr/>
        </p:nvSpPr>
        <p:spPr>
          <a:xfrm>
            <a:off x="3767328" y="3017520"/>
            <a:ext cx="1609344" cy="1417320"/>
          </a:xfrm>
          <a:prstGeom prst="roundRect">
            <a:avLst>
              <a:gd name="adj" fmla="val 5161"/>
            </a:avLst>
          </a:prstGeom>
          <a:solidFill>
            <a:srgbClr val="F6F5F2"/>
          </a:solidFill>
          <a:ln w="9525">
            <a:solidFill>
              <a:srgbClr val="E6E4DF"/>
            </a:solidFill>
            <a:prstDash val="solid"/>
          </a:ln>
        </p:spPr>
      </p:sp>
      <p:pic>
        <p:nvPicPr>
          <p:cNvPr id="34" name="Image 7" descr="/Users/pawank/DiskAlpha/Development/exameye/docs/deck/img/icons/flag-red.png">    </p:cNvPr>
          <p:cNvPicPr>
            <a:picLocks noChangeAspect="1"/>
          </p:cNvPicPr>
          <p:nvPr/>
        </p:nvPicPr>
        <p:blipFill>
          <a:blip r:embed="rId8"/>
          <a:stretch>
            <a:fillRect/>
          </a:stretch>
        </p:blipFill>
        <p:spPr>
          <a:xfrm>
            <a:off x="3877056" y="3127248"/>
            <a:ext cx="365760" cy="365760"/>
          </a:xfrm>
          <a:prstGeom prst="rect">
            <a:avLst/>
          </a:prstGeom>
        </p:spPr>
      </p:pic>
      <p:sp>
        <p:nvSpPr>
          <p:cNvPr id="35" name="Text 25"/>
          <p:cNvSpPr txBox="1"/>
          <p:nvPr/>
        </p:nvSpPr>
        <p:spPr>
          <a:xfrm>
            <a:off x="3877056" y="3547872"/>
            <a:ext cx="1389888" cy="384048"/>
          </a:xfrm>
          <a:prstGeom prst="rect">
            <a:avLst/>
          </a:prstGeom>
          <a:noFill/>
          <a:ln/>
        </p:spPr>
        <p:txBody>
          <a:bodyPr wrap="square" lIns="0" tIns="0" rIns="0" bIns="0" rtlCol="0" anchor="t"/>
          <a:lstStyle/>
          <a:p>
            <a:pPr indent="0" marL="0">
              <a:buNone/>
            </a:pPr>
            <a:r>
              <a:rPr lang="en-US" sz="1200" b="1" dirty="0">
                <a:solidFill>
                  <a:srgbClr val="0F2A4A"/>
                </a:solidFill>
                <a:latin typeface="Calibri" pitchFamily="34" charset="0"/>
                <a:ea typeface="Calibri" pitchFamily="34" charset="-122"/>
                <a:cs typeface="Calibri" pitchFamily="34" charset="-120"/>
              </a:rPr>
              <a:t>Settings changed mid-paper</a:t>
            </a:r>
            <a:endParaRPr lang="en-US" sz="1200" dirty="0"/>
          </a:p>
        </p:txBody>
      </p:sp>
      <p:sp>
        <p:nvSpPr>
          <p:cNvPr id="36" name="Text 26"/>
          <p:cNvSpPr txBox="1"/>
          <p:nvPr/>
        </p:nvSpPr>
        <p:spPr>
          <a:xfrm>
            <a:off x="3877056" y="3931920"/>
            <a:ext cx="1389888"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Which fields, and a screenshot of that moment</a:t>
            </a:r>
            <a:endParaRPr lang="en-US" sz="1050" dirty="0"/>
          </a:p>
        </p:txBody>
      </p:sp>
      <p:sp>
        <p:nvSpPr>
          <p:cNvPr id="37" name="Shape 27"/>
          <p:cNvSpPr/>
          <p:nvPr/>
        </p:nvSpPr>
        <p:spPr>
          <a:xfrm>
            <a:off x="5422392" y="3017520"/>
            <a:ext cx="1609344" cy="1417320"/>
          </a:xfrm>
          <a:prstGeom prst="roundRect">
            <a:avLst>
              <a:gd name="adj" fmla="val 5161"/>
            </a:avLst>
          </a:prstGeom>
          <a:solidFill>
            <a:srgbClr val="F6F5F2"/>
          </a:solidFill>
          <a:ln w="9525">
            <a:solidFill>
              <a:srgbClr val="E6E4DF"/>
            </a:solidFill>
            <a:prstDash val="solid"/>
          </a:ln>
        </p:spPr>
      </p:sp>
      <p:pic>
        <p:nvPicPr>
          <p:cNvPr id="38" name="Image 8" descr="/Users/pawank/DiskAlpha/Development/exameye/docs/deck/img/icons/clock-red.png">    </p:cNvPr>
          <p:cNvPicPr>
            <a:picLocks noChangeAspect="1"/>
          </p:cNvPicPr>
          <p:nvPr/>
        </p:nvPicPr>
        <p:blipFill>
          <a:blip r:embed="rId9"/>
          <a:stretch>
            <a:fillRect/>
          </a:stretch>
        </p:blipFill>
        <p:spPr>
          <a:xfrm>
            <a:off x="5532120" y="3127248"/>
            <a:ext cx="365760" cy="365760"/>
          </a:xfrm>
          <a:prstGeom prst="rect">
            <a:avLst/>
          </a:prstGeom>
        </p:spPr>
      </p:pic>
      <p:sp>
        <p:nvSpPr>
          <p:cNvPr id="39" name="Text 28"/>
          <p:cNvSpPr txBox="1"/>
          <p:nvPr/>
        </p:nvSpPr>
        <p:spPr>
          <a:xfrm>
            <a:off x="5532120" y="3547872"/>
            <a:ext cx="1389888" cy="384048"/>
          </a:xfrm>
          <a:prstGeom prst="rect">
            <a:avLst/>
          </a:prstGeom>
          <a:noFill/>
          <a:ln/>
        </p:spPr>
        <p:txBody>
          <a:bodyPr wrap="square" lIns="0" tIns="0" rIns="0" bIns="0" rtlCol="0" anchor="t"/>
          <a:lstStyle/>
          <a:p>
            <a:pPr indent="0" marL="0">
              <a:buNone/>
            </a:pPr>
            <a:r>
              <a:rPr lang="en-US" sz="1200" b="1" dirty="0">
                <a:solidFill>
                  <a:srgbClr val="0F2A4A"/>
                </a:solidFill>
                <a:latin typeface="Calibri" pitchFamily="34" charset="0"/>
                <a:ea typeface="Calibri" pitchFamily="34" charset="-122"/>
                <a:cs typeface="Calibri" pitchFamily="34" charset="-120"/>
              </a:rPr>
              <a:t>Clock set back</a:t>
            </a:r>
            <a:endParaRPr lang="en-US" sz="1200" dirty="0"/>
          </a:p>
        </p:txBody>
      </p:sp>
      <p:sp>
        <p:nvSpPr>
          <p:cNvPr id="40" name="Text 29"/>
          <p:cNvSpPr txBox="1"/>
          <p:nvPr/>
        </p:nvSpPr>
        <p:spPr>
          <a:xfrm>
            <a:off x="5532120" y="3931920"/>
            <a:ext cx="1389888"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The computer clock jumping backwards</a:t>
            </a:r>
            <a:endParaRPr lang="en-US" sz="1050" dirty="0"/>
          </a:p>
        </p:txBody>
      </p:sp>
      <p:sp>
        <p:nvSpPr>
          <p:cNvPr id="41" name="Shape 30"/>
          <p:cNvSpPr/>
          <p:nvPr/>
        </p:nvSpPr>
        <p:spPr>
          <a:xfrm>
            <a:off x="7077456" y="3017520"/>
            <a:ext cx="1609344" cy="1417320"/>
          </a:xfrm>
          <a:prstGeom prst="roundRect">
            <a:avLst>
              <a:gd name="adj" fmla="val 5161"/>
            </a:avLst>
          </a:prstGeom>
          <a:solidFill>
            <a:srgbClr val="F6F5F2"/>
          </a:solidFill>
          <a:ln w="9525">
            <a:solidFill>
              <a:srgbClr val="E6E4DF"/>
            </a:solidFill>
            <a:prstDash val="solid"/>
          </a:ln>
        </p:spPr>
      </p:sp>
      <p:pic>
        <p:nvPicPr>
          <p:cNvPr id="42" name="Image 9" descr="/Users/pawank/DiskAlpha/Development/exameye/docs/deck/img/icons/monitor-red.png">    </p:cNvPr>
          <p:cNvPicPr>
            <a:picLocks noChangeAspect="1"/>
          </p:cNvPicPr>
          <p:nvPr/>
        </p:nvPicPr>
        <p:blipFill>
          <a:blip r:embed="rId10"/>
          <a:stretch>
            <a:fillRect/>
          </a:stretch>
        </p:blipFill>
        <p:spPr>
          <a:xfrm>
            <a:off x="7187184" y="3127248"/>
            <a:ext cx="365760" cy="365760"/>
          </a:xfrm>
          <a:prstGeom prst="rect">
            <a:avLst/>
          </a:prstGeom>
        </p:spPr>
      </p:pic>
      <p:sp>
        <p:nvSpPr>
          <p:cNvPr id="43" name="Text 31"/>
          <p:cNvSpPr txBox="1"/>
          <p:nvPr/>
        </p:nvSpPr>
        <p:spPr>
          <a:xfrm>
            <a:off x="7187184" y="3547872"/>
            <a:ext cx="1389888" cy="384048"/>
          </a:xfrm>
          <a:prstGeom prst="rect">
            <a:avLst/>
          </a:prstGeom>
          <a:noFill/>
          <a:ln/>
        </p:spPr>
        <p:txBody>
          <a:bodyPr wrap="square" lIns="0" tIns="0" rIns="0" bIns="0" rtlCol="0" anchor="t"/>
          <a:lstStyle/>
          <a:p>
            <a:pPr indent="0" marL="0">
              <a:buNone/>
            </a:pPr>
            <a:r>
              <a:rPr lang="en-US" sz="1200" b="1" dirty="0">
                <a:solidFill>
                  <a:srgbClr val="0F2A4A"/>
                </a:solidFill>
                <a:latin typeface="Calibri" pitchFamily="34" charset="0"/>
                <a:ea typeface="Calibri" pitchFamily="34" charset="-122"/>
                <a:cs typeface="Calibri" pitchFamily="34" charset="-120"/>
              </a:rPr>
              <a:t>Second monitor</a:t>
            </a:r>
            <a:endParaRPr lang="en-US" sz="1200" dirty="0"/>
          </a:p>
        </p:txBody>
      </p:sp>
      <p:sp>
        <p:nvSpPr>
          <p:cNvPr id="44" name="Text 32"/>
          <p:cNvSpPr txBox="1"/>
          <p:nvPr/>
        </p:nvSpPr>
        <p:spPr>
          <a:xfrm>
            <a:off x="7187184" y="3931920"/>
            <a:ext cx="1389888"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More than one screen attached</a:t>
            </a:r>
            <a:endParaRPr lang="en-US" sz="1050" dirty="0"/>
          </a:p>
        </p:txBody>
      </p:sp>
      <p:sp>
        <p:nvSpPr>
          <p:cNvPr id="45" name="Text 33"/>
          <p:cNvSpPr txBox="1"/>
          <p:nvPr/>
        </p:nvSpPr>
        <p:spPr>
          <a:xfrm>
            <a:off x="457200" y="4572000"/>
            <a:ext cx="8229600" cy="274320"/>
          </a:xfrm>
          <a:prstGeom prst="rect">
            <a:avLst/>
          </a:prstGeom>
          <a:noFill/>
          <a:ln/>
        </p:spPr>
        <p:txBody>
          <a:bodyPr wrap="square" lIns="0" tIns="0" rIns="0" bIns="0" rtlCol="0" anchor="t"/>
          <a:lstStyle/>
          <a:p>
            <a:pPr indent="0" marL="0">
              <a:buNone/>
            </a:pPr>
            <a:r>
              <a:rPr lang="en-US" sz="1150" i="1" dirty="0">
                <a:solidFill>
                  <a:srgbClr val="52514E"/>
                </a:solidFill>
                <a:latin typeface="Calibri" pitchFamily="34" charset="0"/>
                <a:ea typeface="Calibri" pitchFamily="34" charset="-122"/>
                <a:cs typeface="Calibri" pitchFamily="34" charset="-120"/>
              </a:rPr>
              <a:t>Plus a routine screenshot of the exam tab at a fixed interval (10 minutes by default), so a quiet paper still has pictures.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5</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Setup: five steps, once per machine</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About 20 minutes including the dry run. After that, nothing to click on exam day.</a:t>
            </a:r>
            <a:endParaRPr lang="en-US" sz="1400" dirty="0"/>
          </a:p>
        </p:txBody>
      </p:sp>
      <p:sp>
        <p:nvSpPr>
          <p:cNvPr id="5" name="Shape 3"/>
          <p:cNvSpPr/>
          <p:nvPr/>
        </p:nvSpPr>
        <p:spPr>
          <a:xfrm>
            <a:off x="960120" y="1645920"/>
            <a:ext cx="640080" cy="640080"/>
          </a:xfrm>
          <a:prstGeom prst="ellipse">
            <a:avLst/>
          </a:prstGeom>
          <a:solidFill>
            <a:srgbClr val="0F2A4A"/>
          </a:solidFill>
          <a:ln w="12700">
            <a:solidFill>
              <a:srgbClr val="0F2A4A"/>
            </a:solidFill>
            <a:prstDash val="solid"/>
          </a:ln>
        </p:spPr>
      </p:sp>
      <p:sp>
        <p:nvSpPr>
          <p:cNvPr id="6" name="Text 4"/>
          <p:cNvSpPr txBox="1"/>
          <p:nvPr/>
        </p:nvSpPr>
        <p:spPr>
          <a:xfrm>
            <a:off x="960120"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pic>
        <p:nvPicPr>
          <p:cNvPr id="7" name="Image 0" descr="/Users/pawank/DiskAlpha/Development/exameye/docs/deck/img/icons/download-blue.png">    </p:cNvPr>
          <p:cNvPicPr>
            <a:picLocks noChangeAspect="1"/>
          </p:cNvPicPr>
          <p:nvPr/>
        </p:nvPicPr>
        <p:blipFill>
          <a:blip r:embed="rId1"/>
          <a:stretch>
            <a:fillRect/>
          </a:stretch>
        </p:blipFill>
        <p:spPr>
          <a:xfrm>
            <a:off x="1051560" y="2514600"/>
            <a:ext cx="457200" cy="457200"/>
          </a:xfrm>
          <a:prstGeom prst="rect">
            <a:avLst/>
          </a:prstGeom>
        </p:spPr>
      </p:pic>
      <p:sp>
        <p:nvSpPr>
          <p:cNvPr id="8" name="Text 5"/>
          <p:cNvSpPr txBox="1"/>
          <p:nvPr/>
        </p:nvSpPr>
        <p:spPr>
          <a:xfrm>
            <a:off x="457200" y="3063240"/>
            <a:ext cx="1645920" cy="320040"/>
          </a:xfrm>
          <a:prstGeom prst="rect">
            <a:avLst/>
          </a:prstGeom>
          <a:noFill/>
          <a:ln/>
        </p:spPr>
        <p:txBody>
          <a:bodyPr wrap="square" lIns="0" tIns="0" rIns="0" bIns="0" rtlCol="0" anchor="t"/>
          <a:lstStyle/>
          <a:p>
            <a:pPr algn="ctr" indent="0" marL="0">
              <a:buNone/>
            </a:pPr>
            <a:r>
              <a:rPr lang="en-US" sz="1400" b="1" dirty="0">
                <a:solidFill>
                  <a:srgbClr val="0F2A4A"/>
                </a:solidFill>
                <a:latin typeface="Calibri" pitchFamily="34" charset="0"/>
                <a:ea typeface="Calibri" pitchFamily="34" charset="-122"/>
                <a:cs typeface="Calibri" pitchFamily="34" charset="-120"/>
              </a:rPr>
              <a:t>Install</a:t>
            </a:r>
            <a:endParaRPr lang="en-US" sz="1400" dirty="0"/>
          </a:p>
        </p:txBody>
      </p:sp>
      <p:sp>
        <p:nvSpPr>
          <p:cNvPr id="9" name="Text 6"/>
          <p:cNvSpPr txBox="1"/>
          <p:nvPr/>
        </p:nvSpPr>
        <p:spPr>
          <a:xfrm>
            <a:off x="502920" y="3383280"/>
            <a:ext cx="1554480" cy="731520"/>
          </a:xfrm>
          <a:prstGeom prst="rect">
            <a:avLst/>
          </a:prstGeom>
          <a:noFill/>
          <a:ln/>
        </p:spPr>
        <p:txBody>
          <a:bodyPr wrap="square" lIns="0" tIns="0" rIns="0" bIns="0" rtlCol="0" anchor="t"/>
          <a:lstStyle/>
          <a:p>
            <a:pPr algn="ctr" indent="0" marL="0">
              <a:buNone/>
            </a:pPr>
            <a:r>
              <a:rPr lang="en-US" sz="1100" dirty="0">
                <a:solidFill>
                  <a:srgbClr val="52514E"/>
                </a:solidFill>
                <a:latin typeface="Calibri" pitchFamily="34" charset="0"/>
                <a:ea typeface="Calibri" pitchFamily="34" charset="-122"/>
                <a:cs typeface="Calibri" pitchFamily="34" charset="-120"/>
              </a:rPr>
              <a:t>Load the ExamEye folder into Chrome</a:t>
            </a:r>
            <a:endParaRPr lang="en-US" sz="1100" dirty="0"/>
          </a:p>
        </p:txBody>
      </p:sp>
      <p:sp>
        <p:nvSpPr>
          <p:cNvPr id="10" name="Shape 7"/>
          <p:cNvSpPr/>
          <p:nvPr/>
        </p:nvSpPr>
        <p:spPr>
          <a:xfrm>
            <a:off x="2624328" y="1645920"/>
            <a:ext cx="640080" cy="640080"/>
          </a:xfrm>
          <a:prstGeom prst="ellipse">
            <a:avLst/>
          </a:prstGeom>
          <a:solidFill>
            <a:srgbClr val="0F2A4A"/>
          </a:solidFill>
          <a:ln w="12700">
            <a:solidFill>
              <a:srgbClr val="0F2A4A"/>
            </a:solidFill>
            <a:prstDash val="solid"/>
          </a:ln>
        </p:spPr>
      </p:sp>
      <p:sp>
        <p:nvSpPr>
          <p:cNvPr id="11" name="Text 8"/>
          <p:cNvSpPr txBox="1"/>
          <p:nvPr/>
        </p:nvSpPr>
        <p:spPr>
          <a:xfrm>
            <a:off x="2624328"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pic>
        <p:nvPicPr>
          <p:cNvPr id="12" name="Image 1" descr="/Users/pawank/DiskAlpha/Development/exameye/docs/deck/img/icons/lock-blue.png">    </p:cNvPr>
          <p:cNvPicPr>
            <a:picLocks noChangeAspect="1"/>
          </p:cNvPicPr>
          <p:nvPr/>
        </p:nvPicPr>
        <p:blipFill>
          <a:blip r:embed="rId2"/>
          <a:stretch>
            <a:fillRect/>
          </a:stretch>
        </p:blipFill>
        <p:spPr>
          <a:xfrm>
            <a:off x="2715768" y="2514600"/>
            <a:ext cx="457200" cy="457200"/>
          </a:xfrm>
          <a:prstGeom prst="rect">
            <a:avLst/>
          </a:prstGeom>
        </p:spPr>
      </p:pic>
      <p:sp>
        <p:nvSpPr>
          <p:cNvPr id="13" name="Text 9"/>
          <p:cNvSpPr txBox="1"/>
          <p:nvPr/>
        </p:nvSpPr>
        <p:spPr>
          <a:xfrm>
            <a:off x="2121408" y="3063240"/>
            <a:ext cx="1645920" cy="320040"/>
          </a:xfrm>
          <a:prstGeom prst="rect">
            <a:avLst/>
          </a:prstGeom>
          <a:noFill/>
          <a:ln/>
        </p:spPr>
        <p:txBody>
          <a:bodyPr wrap="square" lIns="0" tIns="0" rIns="0" bIns="0" rtlCol="0" anchor="t"/>
          <a:lstStyle/>
          <a:p>
            <a:pPr algn="ctr" indent="0" marL="0">
              <a:buNone/>
            </a:pPr>
            <a:r>
              <a:rPr lang="en-US" sz="1400" b="1" dirty="0">
                <a:solidFill>
                  <a:srgbClr val="0F2A4A"/>
                </a:solidFill>
                <a:latin typeface="Calibri" pitchFamily="34" charset="0"/>
                <a:ea typeface="Calibri" pitchFamily="34" charset="-122"/>
                <a:cs typeface="Calibri" pitchFamily="34" charset="-120"/>
              </a:rPr>
              <a:t>Allow in Incognito</a:t>
            </a:r>
            <a:endParaRPr lang="en-US" sz="1400" dirty="0"/>
          </a:p>
        </p:txBody>
      </p:sp>
      <p:sp>
        <p:nvSpPr>
          <p:cNvPr id="14" name="Text 10"/>
          <p:cNvSpPr txBox="1"/>
          <p:nvPr/>
        </p:nvSpPr>
        <p:spPr>
          <a:xfrm>
            <a:off x="2167128" y="3383280"/>
            <a:ext cx="1554480" cy="731520"/>
          </a:xfrm>
          <a:prstGeom prst="rect">
            <a:avLst/>
          </a:prstGeom>
          <a:noFill/>
          <a:ln/>
        </p:spPr>
        <p:txBody>
          <a:bodyPr wrap="square" lIns="0" tIns="0" rIns="0" bIns="0" rtlCol="0" anchor="t"/>
          <a:lstStyle/>
          <a:p>
            <a:pPr algn="ctr" indent="0" marL="0">
              <a:buNone/>
            </a:pPr>
            <a:r>
              <a:rPr lang="en-US" sz="1100" dirty="0">
                <a:solidFill>
                  <a:srgbClr val="52514E"/>
                </a:solidFill>
                <a:latin typeface="Calibri" pitchFamily="34" charset="0"/>
                <a:ea typeface="Calibri" pitchFamily="34" charset="-122"/>
                <a:cs typeface="Calibri" pitchFamily="34" charset="-120"/>
              </a:rPr>
              <a:t>So private windows are seen too</a:t>
            </a:r>
            <a:endParaRPr lang="en-US" sz="1100" dirty="0"/>
          </a:p>
        </p:txBody>
      </p:sp>
      <p:sp>
        <p:nvSpPr>
          <p:cNvPr id="15" name="Shape 11"/>
          <p:cNvSpPr/>
          <p:nvPr/>
        </p:nvSpPr>
        <p:spPr>
          <a:xfrm>
            <a:off x="4288536" y="1645920"/>
            <a:ext cx="640080" cy="640080"/>
          </a:xfrm>
          <a:prstGeom prst="ellipse">
            <a:avLst/>
          </a:prstGeom>
          <a:solidFill>
            <a:srgbClr val="0F2A4A"/>
          </a:solidFill>
          <a:ln w="12700">
            <a:solidFill>
              <a:srgbClr val="0F2A4A"/>
            </a:solidFill>
            <a:prstDash val="solid"/>
          </a:ln>
        </p:spPr>
      </p:sp>
      <p:sp>
        <p:nvSpPr>
          <p:cNvPr id="16" name="Text 12"/>
          <p:cNvSpPr txBox="1"/>
          <p:nvPr/>
        </p:nvSpPr>
        <p:spPr>
          <a:xfrm>
            <a:off x="4288536"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pic>
        <p:nvPicPr>
          <p:cNvPr id="17" name="Image 2" descr="/Users/pawank/DiskAlpha/Development/exameye/docs/deck/img/icons/folder-blue.png">    </p:cNvPr>
          <p:cNvPicPr>
            <a:picLocks noChangeAspect="1"/>
          </p:cNvPicPr>
          <p:nvPr/>
        </p:nvPicPr>
        <p:blipFill>
          <a:blip r:embed="rId3"/>
          <a:stretch>
            <a:fillRect/>
          </a:stretch>
        </p:blipFill>
        <p:spPr>
          <a:xfrm>
            <a:off x="4379976" y="2514600"/>
            <a:ext cx="457200" cy="457200"/>
          </a:xfrm>
          <a:prstGeom prst="rect">
            <a:avLst/>
          </a:prstGeom>
        </p:spPr>
      </p:pic>
      <p:sp>
        <p:nvSpPr>
          <p:cNvPr id="18" name="Text 13"/>
          <p:cNvSpPr txBox="1"/>
          <p:nvPr/>
        </p:nvSpPr>
        <p:spPr>
          <a:xfrm>
            <a:off x="3785616" y="3063240"/>
            <a:ext cx="1645920" cy="320040"/>
          </a:xfrm>
          <a:prstGeom prst="rect">
            <a:avLst/>
          </a:prstGeom>
          <a:noFill/>
          <a:ln/>
        </p:spPr>
        <p:txBody>
          <a:bodyPr wrap="square" lIns="0" tIns="0" rIns="0" bIns="0" rtlCol="0" anchor="t"/>
          <a:lstStyle/>
          <a:p>
            <a:pPr algn="ctr" indent="0" marL="0">
              <a:buNone/>
            </a:pPr>
            <a:r>
              <a:rPr lang="en-US" sz="1400" b="1" dirty="0">
                <a:solidFill>
                  <a:srgbClr val="0F2A4A"/>
                </a:solidFill>
                <a:latin typeface="Calibri" pitchFamily="34" charset="0"/>
                <a:ea typeface="Calibri" pitchFamily="34" charset="-122"/>
                <a:cs typeface="Calibri" pitchFamily="34" charset="-120"/>
              </a:rPr>
              <a:t>Downloads setting</a:t>
            </a:r>
            <a:endParaRPr lang="en-US" sz="1400" dirty="0"/>
          </a:p>
        </p:txBody>
      </p:sp>
      <p:sp>
        <p:nvSpPr>
          <p:cNvPr id="19" name="Text 14"/>
          <p:cNvSpPr txBox="1"/>
          <p:nvPr/>
        </p:nvSpPr>
        <p:spPr>
          <a:xfrm>
            <a:off x="3831336" y="3383280"/>
            <a:ext cx="1554480" cy="731520"/>
          </a:xfrm>
          <a:prstGeom prst="rect">
            <a:avLst/>
          </a:prstGeom>
          <a:noFill/>
          <a:ln/>
        </p:spPr>
        <p:txBody>
          <a:bodyPr wrap="square" lIns="0" tIns="0" rIns="0" bIns="0" rtlCol="0" anchor="t"/>
          <a:lstStyle/>
          <a:p>
            <a:pPr algn="ctr" indent="0" marL="0">
              <a:buNone/>
            </a:pPr>
            <a:r>
              <a:rPr lang="en-US" sz="1100" dirty="0">
                <a:solidFill>
                  <a:srgbClr val="52514E"/>
                </a:solidFill>
                <a:latin typeface="Calibri" pitchFamily="34" charset="0"/>
                <a:ea typeface="Calibri" pitchFamily="34" charset="-122"/>
                <a:cs typeface="Calibri" pitchFamily="34" charset="-120"/>
              </a:rPr>
              <a:t>Chrome must not ask where to save</a:t>
            </a:r>
            <a:endParaRPr lang="en-US" sz="1100" dirty="0"/>
          </a:p>
        </p:txBody>
      </p:sp>
      <p:sp>
        <p:nvSpPr>
          <p:cNvPr id="20" name="Shape 15"/>
          <p:cNvSpPr/>
          <p:nvPr/>
        </p:nvSpPr>
        <p:spPr>
          <a:xfrm>
            <a:off x="5952744" y="1645920"/>
            <a:ext cx="640080" cy="640080"/>
          </a:xfrm>
          <a:prstGeom prst="ellipse">
            <a:avLst/>
          </a:prstGeom>
          <a:solidFill>
            <a:srgbClr val="0F2A4A"/>
          </a:solidFill>
          <a:ln w="12700">
            <a:solidFill>
              <a:srgbClr val="0F2A4A"/>
            </a:solidFill>
            <a:prstDash val="solid"/>
          </a:ln>
        </p:spPr>
      </p:sp>
      <p:sp>
        <p:nvSpPr>
          <p:cNvPr id="21" name="Text 16"/>
          <p:cNvSpPr txBox="1"/>
          <p:nvPr/>
        </p:nvSpPr>
        <p:spPr>
          <a:xfrm>
            <a:off x="5952744"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pic>
        <p:nvPicPr>
          <p:cNvPr id="22" name="Image 3" descr="/Users/pawank/DiskAlpha/Development/exameye/docs/deck/img/icons/gear-blue.png">    </p:cNvPr>
          <p:cNvPicPr>
            <a:picLocks noChangeAspect="1"/>
          </p:cNvPicPr>
          <p:nvPr/>
        </p:nvPicPr>
        <p:blipFill>
          <a:blip r:embed="rId4"/>
          <a:stretch>
            <a:fillRect/>
          </a:stretch>
        </p:blipFill>
        <p:spPr>
          <a:xfrm>
            <a:off x="6044184" y="2514600"/>
            <a:ext cx="457200" cy="457200"/>
          </a:xfrm>
          <a:prstGeom prst="rect">
            <a:avLst/>
          </a:prstGeom>
        </p:spPr>
      </p:pic>
      <p:sp>
        <p:nvSpPr>
          <p:cNvPr id="23" name="Text 17"/>
          <p:cNvSpPr txBox="1"/>
          <p:nvPr/>
        </p:nvSpPr>
        <p:spPr>
          <a:xfrm>
            <a:off x="5449824" y="3063240"/>
            <a:ext cx="1645920" cy="320040"/>
          </a:xfrm>
          <a:prstGeom prst="rect">
            <a:avLst/>
          </a:prstGeom>
          <a:noFill/>
          <a:ln/>
        </p:spPr>
        <p:txBody>
          <a:bodyPr wrap="square" lIns="0" tIns="0" rIns="0" bIns="0" rtlCol="0" anchor="t"/>
          <a:lstStyle/>
          <a:p>
            <a:pPr algn="ctr" indent="0" marL="0">
              <a:buNone/>
            </a:pPr>
            <a:r>
              <a:rPr lang="en-US" sz="1400" b="1" dirty="0">
                <a:solidFill>
                  <a:srgbClr val="0F2A4A"/>
                </a:solidFill>
                <a:latin typeface="Calibri" pitchFamily="34" charset="0"/>
                <a:ea typeface="Calibri" pitchFamily="34" charset="-122"/>
                <a:cs typeface="Calibri" pitchFamily="34" charset="-120"/>
              </a:rPr>
              <a:t>Configure</a:t>
            </a:r>
            <a:endParaRPr lang="en-US" sz="1400" dirty="0"/>
          </a:p>
        </p:txBody>
      </p:sp>
      <p:sp>
        <p:nvSpPr>
          <p:cNvPr id="24" name="Text 18"/>
          <p:cNvSpPr txBox="1"/>
          <p:nvPr/>
        </p:nvSpPr>
        <p:spPr>
          <a:xfrm>
            <a:off x="5495544" y="3383280"/>
            <a:ext cx="1554480" cy="731520"/>
          </a:xfrm>
          <a:prstGeom prst="rect">
            <a:avLst/>
          </a:prstGeom>
          <a:noFill/>
          <a:ln/>
        </p:spPr>
        <p:txBody>
          <a:bodyPr wrap="square" lIns="0" tIns="0" rIns="0" bIns="0" rtlCol="0" anchor="t"/>
          <a:lstStyle/>
          <a:p>
            <a:pPr algn="ctr" indent="0" marL="0">
              <a:buNone/>
            </a:pPr>
            <a:r>
              <a:rPr lang="en-US" sz="1100" dirty="0">
                <a:solidFill>
                  <a:srgbClr val="52514E"/>
                </a:solidFill>
                <a:latin typeface="Calibri" pitchFamily="34" charset="0"/>
                <a:ea typeface="Calibri" pitchFamily="34" charset="-122"/>
                <a:cs typeface="Calibri" pitchFamily="34" charset="-120"/>
              </a:rPr>
              <a:t>Fill in the five sections and save</a:t>
            </a:r>
            <a:endParaRPr lang="en-US" sz="1100" dirty="0"/>
          </a:p>
        </p:txBody>
      </p:sp>
      <p:sp>
        <p:nvSpPr>
          <p:cNvPr id="25" name="Shape 19"/>
          <p:cNvSpPr/>
          <p:nvPr/>
        </p:nvSpPr>
        <p:spPr>
          <a:xfrm>
            <a:off x="7616952" y="1645920"/>
            <a:ext cx="640080" cy="640080"/>
          </a:xfrm>
          <a:prstGeom prst="ellipse">
            <a:avLst/>
          </a:prstGeom>
          <a:solidFill>
            <a:srgbClr val="0F2A4A"/>
          </a:solidFill>
          <a:ln w="12700">
            <a:solidFill>
              <a:srgbClr val="0F2A4A"/>
            </a:solidFill>
            <a:prstDash val="solid"/>
          </a:ln>
        </p:spPr>
      </p:sp>
      <p:sp>
        <p:nvSpPr>
          <p:cNvPr id="26" name="Text 20"/>
          <p:cNvSpPr txBox="1"/>
          <p:nvPr/>
        </p:nvSpPr>
        <p:spPr>
          <a:xfrm>
            <a:off x="7616952"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pic>
        <p:nvPicPr>
          <p:cNvPr id="27" name="Image 4" descr="/Users/pawank/DiskAlpha/Development/exameye/docs/deck/img/icons/check-blue.png">    </p:cNvPr>
          <p:cNvPicPr>
            <a:picLocks noChangeAspect="1"/>
          </p:cNvPicPr>
          <p:nvPr/>
        </p:nvPicPr>
        <p:blipFill>
          <a:blip r:embed="rId5"/>
          <a:stretch>
            <a:fillRect/>
          </a:stretch>
        </p:blipFill>
        <p:spPr>
          <a:xfrm>
            <a:off x="7708392" y="2514600"/>
            <a:ext cx="457200" cy="457200"/>
          </a:xfrm>
          <a:prstGeom prst="rect">
            <a:avLst/>
          </a:prstGeom>
        </p:spPr>
      </p:pic>
      <p:sp>
        <p:nvSpPr>
          <p:cNvPr id="28" name="Text 21"/>
          <p:cNvSpPr txBox="1"/>
          <p:nvPr/>
        </p:nvSpPr>
        <p:spPr>
          <a:xfrm>
            <a:off x="7114032" y="3063240"/>
            <a:ext cx="1645920" cy="320040"/>
          </a:xfrm>
          <a:prstGeom prst="rect">
            <a:avLst/>
          </a:prstGeom>
          <a:noFill/>
          <a:ln/>
        </p:spPr>
        <p:txBody>
          <a:bodyPr wrap="square" lIns="0" tIns="0" rIns="0" bIns="0" rtlCol="0" anchor="t"/>
          <a:lstStyle/>
          <a:p>
            <a:pPr algn="ctr" indent="0" marL="0">
              <a:buNone/>
            </a:pPr>
            <a:r>
              <a:rPr lang="en-US" sz="1400" b="1" dirty="0">
                <a:solidFill>
                  <a:srgbClr val="0F2A4A"/>
                </a:solidFill>
                <a:latin typeface="Calibri" pitchFamily="34" charset="0"/>
                <a:ea typeface="Calibri" pitchFamily="34" charset="-122"/>
                <a:cs typeface="Calibri" pitchFamily="34" charset="-120"/>
              </a:rPr>
              <a:t>Dry run</a:t>
            </a:r>
            <a:endParaRPr lang="en-US" sz="1400" dirty="0"/>
          </a:p>
        </p:txBody>
      </p:sp>
      <p:sp>
        <p:nvSpPr>
          <p:cNvPr id="29" name="Text 22"/>
          <p:cNvSpPr txBox="1"/>
          <p:nvPr/>
        </p:nvSpPr>
        <p:spPr>
          <a:xfrm>
            <a:off x="7159752" y="3383280"/>
            <a:ext cx="1554480" cy="731520"/>
          </a:xfrm>
          <a:prstGeom prst="rect">
            <a:avLst/>
          </a:prstGeom>
          <a:noFill/>
          <a:ln/>
        </p:spPr>
        <p:txBody>
          <a:bodyPr wrap="square" lIns="0" tIns="0" rIns="0" bIns="0" rtlCol="0" anchor="t"/>
          <a:lstStyle/>
          <a:p>
            <a:pPr algn="ctr" indent="0" marL="0">
              <a:buNone/>
            </a:pPr>
            <a:r>
              <a:rPr lang="en-US" sz="1100" dirty="0">
                <a:solidFill>
                  <a:srgbClr val="52514E"/>
                </a:solidFill>
                <a:latin typeface="Calibri" pitchFamily="34" charset="0"/>
                <a:ea typeface="Calibri" pitchFamily="34" charset="-122"/>
                <a:cs typeface="Calibri" pitchFamily="34" charset="-120"/>
              </a:rPr>
              <a:t>Ten minutes with a test paper</a:t>
            </a:r>
            <a:endParaRPr lang="en-US" sz="1100" dirty="0"/>
          </a:p>
        </p:txBody>
      </p:sp>
      <p:sp>
        <p:nvSpPr>
          <p:cNvPr id="30" name="Shape 23"/>
          <p:cNvSpPr/>
          <p:nvPr/>
        </p:nvSpPr>
        <p:spPr>
          <a:xfrm>
            <a:off x="457200" y="4160520"/>
            <a:ext cx="8229600" cy="548640"/>
          </a:xfrm>
          <a:prstGeom prst="roundRect">
            <a:avLst>
              <a:gd name="adj" fmla="val 13333"/>
            </a:avLst>
          </a:prstGeom>
          <a:solidFill>
            <a:srgbClr val="EEF3FB"/>
          </a:solidFill>
          <a:ln w="9525">
            <a:solidFill>
              <a:srgbClr val="E6E4DF"/>
            </a:solidFill>
            <a:prstDash val="solid"/>
          </a:ln>
        </p:spPr>
      </p:sp>
      <p:sp>
        <p:nvSpPr>
          <p:cNvPr id="31" name="Text 24"/>
          <p:cNvSpPr txBox="1"/>
          <p:nvPr/>
        </p:nvSpPr>
        <p:spPr>
          <a:xfrm>
            <a:off x="640080" y="4270248"/>
            <a:ext cx="7863840" cy="365760"/>
          </a:xfrm>
          <a:prstGeom prst="rect">
            <a:avLst/>
          </a:prstGeom>
          <a:noFill/>
          <a:ln/>
        </p:spPr>
        <p:txBody>
          <a:bodyPr wrap="square" lIns="0" tIns="0" rIns="0" bIns="0" rtlCol="0" anchor="t"/>
          <a:lstStyle/>
          <a:p>
            <a:pPr indent="0" marL="0">
              <a:buNone/>
            </a:pPr>
            <a:r>
              <a:rPr lang="en-US" sz="1200" dirty="0">
                <a:solidFill>
                  <a:srgbClr val="0F2A4A"/>
                </a:solidFill>
                <a:latin typeface="Calibri" pitchFamily="34" charset="0"/>
                <a:ea typeface="Calibri" pitchFamily="34" charset="-122"/>
                <a:cs typeface="Calibri" pitchFamily="34" charset="-120"/>
              </a:rPr>
              <a:t>Managed fleets: IT can push ExamEye and its settings by policy instead of steps 1 to 3. Ask before doing them by hand.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6</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Step 1: Install</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Chrome loads ExamEye from a folder on the machine.</a:t>
            </a:r>
            <a:endParaRPr lang="en-US" sz="1400" dirty="0"/>
          </a:p>
        </p:txBody>
      </p:sp>
      <p:sp>
        <p:nvSpPr>
          <p:cNvPr id="5" name="Text 3"/>
          <p:cNvSpPr txBox="1"/>
          <p:nvPr/>
        </p:nvSpPr>
        <p:spPr>
          <a:xfrm>
            <a:off x="457200" y="1463040"/>
            <a:ext cx="3840480" cy="32004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Copy the ExamEye folder somewhere permanent, for example C:\ExamEye. Moving or deleting it later switches the extension off.</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In Chrome, open chrome://extensions and switch Developer mode on (top right).</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Click Load unpacked and choose the ExamEye folder.</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ExamEye appears in the list with its toggle on. Leave Developer mode on: Chrome then shows no warning bubble at start-up.</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Microsoft Edge works the same way at edge://extensions.</a:t>
            </a:r>
            <a:endParaRPr lang="en-US" sz="1250" dirty="0"/>
          </a:p>
        </p:txBody>
      </p:sp>
      <p:sp>
        <p:nvSpPr>
          <p:cNvPr id="6" name="Shape 4"/>
          <p:cNvSpPr/>
          <p:nvPr/>
        </p:nvSpPr>
        <p:spPr>
          <a:xfrm>
            <a:off x="4526280" y="1417320"/>
            <a:ext cx="4160520" cy="1737360"/>
          </a:xfrm>
          <a:prstGeom prst="roundRect">
            <a:avLst>
              <a:gd name="adj" fmla="val 3158"/>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7" name="Image 0" descr="/Users/pawank/DiskAlpha/Development/exameye/docs/deck/img/chrome-extensions-devmode.png">    </p:cNvPr>
          <p:cNvPicPr>
            <a:picLocks noChangeAspect="1"/>
          </p:cNvPicPr>
          <p:nvPr/>
        </p:nvPicPr>
        <p:blipFill>
          <a:blip r:embed="rId1"/>
          <a:srcRect l="0" r="0" t="0" b="0"/>
          <a:stretch/>
        </p:blipFill>
        <p:spPr>
          <a:xfrm>
            <a:off x="4581144" y="1472184"/>
            <a:ext cx="4050792" cy="1627632"/>
          </a:xfrm>
          <a:prstGeom prst="rect">
            <a:avLst/>
          </a:prstGeom>
        </p:spPr>
      </p:pic>
      <p:sp>
        <p:nvSpPr>
          <p:cNvPr id="8" name="Shape 5"/>
          <p:cNvSpPr/>
          <p:nvPr/>
        </p:nvSpPr>
        <p:spPr>
          <a:xfrm>
            <a:off x="4526280" y="3246120"/>
            <a:ext cx="4160520" cy="1463040"/>
          </a:xfrm>
          <a:prstGeom prst="roundRect">
            <a:avLst>
              <a:gd name="adj" fmla="val 3750"/>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9" name="Image 1" descr="/Users/pawank/DiskAlpha/Development/exameye/docs/deck/img/chrome-extensions.png">    </p:cNvPr>
          <p:cNvPicPr>
            <a:picLocks noChangeAspect="1"/>
          </p:cNvPicPr>
          <p:nvPr/>
        </p:nvPicPr>
        <p:blipFill>
          <a:blip r:embed="rId2"/>
          <a:srcRect l="0" r="0" t="0" b="0"/>
          <a:stretch/>
        </p:blipFill>
        <p:spPr>
          <a:xfrm>
            <a:off x="4581144" y="3300984"/>
            <a:ext cx="4050792" cy="13533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7</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Steps 2 and 3: two Chrome settings</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Both are one-time switches. Without them ExamEye works, but misses things.</a:t>
            </a:r>
            <a:endParaRPr lang="en-US" sz="1400" dirty="0"/>
          </a:p>
        </p:txBody>
      </p:sp>
      <p:sp>
        <p:nvSpPr>
          <p:cNvPr id="5" name="Shape 3"/>
          <p:cNvSpPr/>
          <p:nvPr/>
        </p:nvSpPr>
        <p:spPr>
          <a:xfrm>
            <a:off x="457200" y="1463040"/>
            <a:ext cx="2651760" cy="3200400"/>
          </a:xfrm>
          <a:prstGeom prst="roundRect">
            <a:avLst>
              <a:gd name="adj" fmla="val 2759"/>
            </a:avLst>
          </a:prstGeom>
          <a:solidFill>
            <a:srgbClr val="F6F5F2"/>
          </a:solidFill>
          <a:ln w="9525">
            <a:solidFill>
              <a:srgbClr val="E6E4DF"/>
            </a:solidFill>
            <a:prstDash val="solid"/>
          </a:ln>
        </p:spPr>
      </p:sp>
      <p:pic>
        <p:nvPicPr>
          <p:cNvPr id="6" name="Image 0" descr="/Users/pawank/DiskAlpha/Development/exameye/docs/deck/img/icons/lock-blue.png">    </p:cNvPr>
          <p:cNvPicPr>
            <a:picLocks noChangeAspect="1"/>
          </p:cNvPicPr>
          <p:nvPr/>
        </p:nvPicPr>
        <p:blipFill>
          <a:blip r:embed="rId1"/>
          <a:stretch>
            <a:fillRect/>
          </a:stretch>
        </p:blipFill>
        <p:spPr>
          <a:xfrm>
            <a:off x="640080" y="1645920"/>
            <a:ext cx="457200" cy="457200"/>
          </a:xfrm>
          <a:prstGeom prst="rect">
            <a:avLst/>
          </a:prstGeom>
        </p:spPr>
      </p:pic>
      <p:sp>
        <p:nvSpPr>
          <p:cNvPr id="7" name="Text 4"/>
          <p:cNvSpPr txBox="1"/>
          <p:nvPr/>
        </p:nvSpPr>
        <p:spPr>
          <a:xfrm>
            <a:off x="640080" y="2194560"/>
            <a:ext cx="2286000" cy="365760"/>
          </a:xfrm>
          <a:prstGeom prst="rect">
            <a:avLst/>
          </a:prstGeom>
          <a:noFill/>
          <a:ln/>
        </p:spPr>
        <p:txBody>
          <a:bodyPr wrap="square" lIns="0" tIns="0" rIns="0" bIns="0" rtlCol="0" anchor="t"/>
          <a:lstStyle/>
          <a:p>
            <a:pPr indent="0" marL="0">
              <a:buNone/>
            </a:pPr>
            <a:r>
              <a:rPr lang="en-US" sz="1500" b="1" dirty="0">
                <a:solidFill>
                  <a:srgbClr val="0F2A4A"/>
                </a:solidFill>
                <a:latin typeface="Calibri" pitchFamily="34" charset="0"/>
                <a:ea typeface="Calibri" pitchFamily="34" charset="-122"/>
                <a:cs typeface="Calibri" pitchFamily="34" charset="-120"/>
              </a:rPr>
              <a:t>Allow in Incognito</a:t>
            </a:r>
            <a:endParaRPr lang="en-US" sz="1500" dirty="0"/>
          </a:p>
        </p:txBody>
      </p:sp>
      <p:sp>
        <p:nvSpPr>
          <p:cNvPr id="8" name="Text 5"/>
          <p:cNvSpPr txBox="1"/>
          <p:nvPr/>
        </p:nvSpPr>
        <p:spPr>
          <a:xfrm>
            <a:off x="640080" y="2606040"/>
            <a:ext cx="2286000" cy="19202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chrome://extensions → ExamEye → Details → Allow in Incognito: on.</a:t>
            </a:r>
            <a:endParaRPr lang="en-US" sz="1150" dirty="0"/>
          </a:p>
          <a:p>
            <a:pPr indent="0" marL="0">
              <a:buNone/>
            </a:pPr>
            <a:endParaRPr lang="en-US" sz="1150" dirty="0"/>
          </a:p>
          <a:p>
            <a:pPr indent="0" marL="0">
              <a:buNone/>
            </a:pPr>
            <a:r>
              <a:rPr lang="en-US" sz="1150" dirty="0">
                <a:solidFill>
                  <a:srgbClr val="52514E"/>
                </a:solidFill>
                <a:latin typeface="Calibri" pitchFamily="34" charset="0"/>
                <a:ea typeface="Calibri" pitchFamily="34" charset="-122"/>
                <a:cs typeface="Calibri" pitchFamily="34" charset="-120"/>
              </a:rPr>
              <a:t>Otherwise a private window is invisible to ExamEye and an incognito window opened during the paper is never recorded.</a:t>
            </a:r>
            <a:endParaRPr lang="en-US" sz="1150" dirty="0"/>
          </a:p>
        </p:txBody>
      </p:sp>
      <p:sp>
        <p:nvSpPr>
          <p:cNvPr id="9" name="Shape 6"/>
          <p:cNvSpPr/>
          <p:nvPr/>
        </p:nvSpPr>
        <p:spPr>
          <a:xfrm>
            <a:off x="3246120" y="1463040"/>
            <a:ext cx="2651760" cy="3200400"/>
          </a:xfrm>
          <a:prstGeom prst="roundRect">
            <a:avLst>
              <a:gd name="adj" fmla="val 2759"/>
            </a:avLst>
          </a:prstGeom>
          <a:solidFill>
            <a:srgbClr val="F6F5F2"/>
          </a:solidFill>
          <a:ln w="9525">
            <a:solidFill>
              <a:srgbClr val="E6E4DF"/>
            </a:solidFill>
            <a:prstDash val="solid"/>
          </a:ln>
        </p:spPr>
      </p:sp>
      <p:pic>
        <p:nvPicPr>
          <p:cNvPr id="10" name="Image 1" descr="/Users/pawank/DiskAlpha/Development/exameye/docs/deck/img/icons/folder-blue.png">    </p:cNvPr>
          <p:cNvPicPr>
            <a:picLocks noChangeAspect="1"/>
          </p:cNvPicPr>
          <p:nvPr/>
        </p:nvPicPr>
        <p:blipFill>
          <a:blip r:embed="rId2"/>
          <a:stretch>
            <a:fillRect/>
          </a:stretch>
        </p:blipFill>
        <p:spPr>
          <a:xfrm>
            <a:off x="3429000" y="1645920"/>
            <a:ext cx="457200" cy="457200"/>
          </a:xfrm>
          <a:prstGeom prst="rect">
            <a:avLst/>
          </a:prstGeom>
        </p:spPr>
      </p:pic>
      <p:sp>
        <p:nvSpPr>
          <p:cNvPr id="11" name="Text 7"/>
          <p:cNvSpPr txBox="1"/>
          <p:nvPr/>
        </p:nvSpPr>
        <p:spPr>
          <a:xfrm>
            <a:off x="3429000" y="2194560"/>
            <a:ext cx="2286000" cy="365760"/>
          </a:xfrm>
          <a:prstGeom prst="rect">
            <a:avLst/>
          </a:prstGeom>
          <a:noFill/>
          <a:ln/>
        </p:spPr>
        <p:txBody>
          <a:bodyPr wrap="square" lIns="0" tIns="0" rIns="0" bIns="0" rtlCol="0" anchor="t"/>
          <a:lstStyle/>
          <a:p>
            <a:pPr indent="0" marL="0">
              <a:buNone/>
            </a:pPr>
            <a:r>
              <a:rPr lang="en-US" sz="1500" b="1" dirty="0">
                <a:solidFill>
                  <a:srgbClr val="0F2A4A"/>
                </a:solidFill>
                <a:latin typeface="Calibri" pitchFamily="34" charset="0"/>
                <a:ea typeface="Calibri" pitchFamily="34" charset="-122"/>
                <a:cs typeface="Calibri" pitchFamily="34" charset="-120"/>
              </a:rPr>
              <a:t>Downloads: do not ask</a:t>
            </a:r>
            <a:endParaRPr lang="en-US" sz="1500" dirty="0"/>
          </a:p>
        </p:txBody>
      </p:sp>
      <p:sp>
        <p:nvSpPr>
          <p:cNvPr id="12" name="Text 8"/>
          <p:cNvSpPr txBox="1"/>
          <p:nvPr/>
        </p:nvSpPr>
        <p:spPr>
          <a:xfrm>
            <a:off x="3429000" y="2606040"/>
            <a:ext cx="2286000" cy="19202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Chrome Settings → Downloads → "Ask where to save each file before downloading": off.</a:t>
            </a:r>
            <a:endParaRPr lang="en-US" sz="1150" dirty="0"/>
          </a:p>
          <a:p>
            <a:pPr indent="0" marL="0">
              <a:buNone/>
            </a:pPr>
            <a:endParaRPr lang="en-US" sz="1150" dirty="0"/>
          </a:p>
          <a:p>
            <a:pPr indent="0" marL="0">
              <a:buNone/>
            </a:pPr>
            <a:r>
              <a:rPr lang="en-US" sz="1150" dirty="0">
                <a:solidFill>
                  <a:srgbClr val="52514E"/>
                </a:solidFill>
                <a:latin typeface="Calibri" pitchFamily="34" charset="0"/>
                <a:ea typeface="Calibri" pitchFamily="34" charset="-122"/>
                <a:cs typeface="Calibri" pitchFamily="34" charset="-120"/>
              </a:rPr>
              <a:t>Otherwise every screenshot and log file would pop up a save dialog. Note the download location: that is where the recordings go.</a:t>
            </a:r>
            <a:endParaRPr lang="en-US" sz="1150" dirty="0"/>
          </a:p>
        </p:txBody>
      </p:sp>
      <p:sp>
        <p:nvSpPr>
          <p:cNvPr id="13" name="Shape 9"/>
          <p:cNvSpPr/>
          <p:nvPr/>
        </p:nvSpPr>
        <p:spPr>
          <a:xfrm>
            <a:off x="6035040" y="1463040"/>
            <a:ext cx="2651760" cy="3200400"/>
          </a:xfrm>
          <a:prstGeom prst="roundRect">
            <a:avLst>
              <a:gd name="adj" fmla="val 2759"/>
            </a:avLst>
          </a:prstGeom>
          <a:solidFill>
            <a:srgbClr val="F6F5F2"/>
          </a:solidFill>
          <a:ln w="9525">
            <a:solidFill>
              <a:srgbClr val="E6E4DF"/>
            </a:solidFill>
            <a:prstDash val="solid"/>
          </a:ln>
        </p:spPr>
      </p:sp>
      <p:pic>
        <p:nvPicPr>
          <p:cNvPr id="14" name="Image 2" descr="/Users/pawank/DiskAlpha/Development/exameye/docs/deck/img/icons/monitor-amber.png">    </p:cNvPr>
          <p:cNvPicPr>
            <a:picLocks noChangeAspect="1"/>
          </p:cNvPicPr>
          <p:nvPr/>
        </p:nvPicPr>
        <p:blipFill>
          <a:blip r:embed="rId3"/>
          <a:stretch>
            <a:fillRect/>
          </a:stretch>
        </p:blipFill>
        <p:spPr>
          <a:xfrm>
            <a:off x="6217920" y="1645920"/>
            <a:ext cx="457200" cy="457200"/>
          </a:xfrm>
          <a:prstGeom prst="rect">
            <a:avLst/>
          </a:prstGeom>
        </p:spPr>
      </p:pic>
      <p:sp>
        <p:nvSpPr>
          <p:cNvPr id="15" name="Text 10"/>
          <p:cNvSpPr txBox="1"/>
          <p:nvPr/>
        </p:nvSpPr>
        <p:spPr>
          <a:xfrm>
            <a:off x="6217920" y="2194560"/>
            <a:ext cx="2286000" cy="365760"/>
          </a:xfrm>
          <a:prstGeom prst="rect">
            <a:avLst/>
          </a:prstGeom>
          <a:noFill/>
          <a:ln/>
        </p:spPr>
        <p:txBody>
          <a:bodyPr wrap="square" lIns="0" tIns="0" rIns="0" bIns="0" rtlCol="0" anchor="t"/>
          <a:lstStyle/>
          <a:p>
            <a:pPr indent="0" marL="0">
              <a:buNone/>
            </a:pPr>
            <a:r>
              <a:rPr lang="en-US" sz="1500" b="1" dirty="0">
                <a:solidFill>
                  <a:srgbClr val="0F2A4A"/>
                </a:solidFill>
                <a:latin typeface="Calibri" pitchFamily="34" charset="0"/>
                <a:ea typeface="Calibri" pitchFamily="34" charset="-122"/>
                <a:cs typeface="Calibri" pitchFamily="34" charset="-120"/>
              </a:rPr>
              <a:t>macOS only: screen recording</a:t>
            </a:r>
            <a:endParaRPr lang="en-US" sz="1500" dirty="0"/>
          </a:p>
        </p:txBody>
      </p:sp>
      <p:sp>
        <p:nvSpPr>
          <p:cNvPr id="16" name="Text 11"/>
          <p:cNvSpPr txBox="1"/>
          <p:nvPr/>
        </p:nvSpPr>
        <p:spPr>
          <a:xfrm>
            <a:off x="6217920" y="2606040"/>
            <a:ext cx="2286000" cy="19202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System Settings → Privacy &amp; Security → Screen Recording → enable Chrome, then quit and reopen Chrome.</a:t>
            </a:r>
            <a:endParaRPr lang="en-US" sz="1150" dirty="0"/>
          </a:p>
          <a:p>
            <a:pPr indent="0" marL="0">
              <a:buNone/>
            </a:pPr>
            <a:endParaRPr lang="en-US" sz="1150" dirty="0"/>
          </a:p>
          <a:p>
            <a:pPr indent="0" marL="0">
              <a:buNone/>
            </a:pPr>
            <a:r>
              <a:rPr lang="en-US" sz="1150" dirty="0">
                <a:solidFill>
                  <a:srgbClr val="52514E"/>
                </a:solidFill>
                <a:latin typeface="Calibri" pitchFamily="34" charset="0"/>
                <a:ea typeface="Calibri" pitchFamily="34" charset="-122"/>
                <a:cs typeface="Calibri" pitchFamily="34" charset="-120"/>
              </a:rPr>
              <a:t>Without it, whole-screen pictures come out black and nothing warns you. Windows needs nothing here.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8</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Step 4: Configure</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Right-click the ExamEye icon → Options. Five short sections, then Save.</a:t>
            </a:r>
            <a:endParaRPr lang="en-US" sz="1400" dirty="0"/>
          </a:p>
        </p:txBody>
      </p:sp>
      <p:sp>
        <p:nvSpPr>
          <p:cNvPr id="5" name="Shape 3"/>
          <p:cNvSpPr/>
          <p:nvPr/>
        </p:nvSpPr>
        <p:spPr>
          <a:xfrm>
            <a:off x="457200" y="1371600"/>
            <a:ext cx="3108960" cy="3429000"/>
          </a:xfrm>
          <a:prstGeom prst="roundRect">
            <a:avLst>
              <a:gd name="adj" fmla="val 1765"/>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6" name="Image 0" descr="/Users/pawank/DiskAlpha/Development/exameye/docs/deck/img/options-part1.png">    </p:cNvPr>
          <p:cNvPicPr>
            <a:picLocks noChangeAspect="1"/>
          </p:cNvPicPr>
          <p:nvPr/>
        </p:nvPicPr>
        <p:blipFill>
          <a:blip r:embed="rId1"/>
          <a:srcRect l="0" r="0" t="0" b="0"/>
          <a:stretch/>
        </p:blipFill>
        <p:spPr>
          <a:xfrm>
            <a:off x="512064" y="1426464"/>
            <a:ext cx="2999232" cy="3319272"/>
          </a:xfrm>
          <a:prstGeom prst="rect">
            <a:avLst/>
          </a:prstGeom>
        </p:spPr>
      </p:pic>
      <p:sp>
        <p:nvSpPr>
          <p:cNvPr id="7" name="Shape 4"/>
          <p:cNvSpPr/>
          <p:nvPr/>
        </p:nvSpPr>
        <p:spPr>
          <a:xfrm>
            <a:off x="3840480" y="1389888"/>
            <a:ext cx="310896" cy="310896"/>
          </a:xfrm>
          <a:prstGeom prst="ellipse">
            <a:avLst/>
          </a:prstGeom>
          <a:solidFill>
            <a:srgbClr val="2F63C9"/>
          </a:solidFill>
          <a:ln w="12700">
            <a:solidFill>
              <a:srgbClr val="2F63C9"/>
            </a:solidFill>
            <a:prstDash val="solid"/>
          </a:ln>
        </p:spPr>
      </p:sp>
      <p:sp>
        <p:nvSpPr>
          <p:cNvPr id="8" name="Text 5"/>
          <p:cNvSpPr txBox="1"/>
          <p:nvPr/>
        </p:nvSpPr>
        <p:spPr>
          <a:xfrm>
            <a:off x="3840480" y="13898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4297680" y="1371600"/>
            <a:ext cx="4389120" cy="274320"/>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Exam website</a:t>
            </a:r>
            <a:endParaRPr lang="en-US" sz="1400" dirty="0"/>
          </a:p>
        </p:txBody>
      </p:sp>
      <p:sp>
        <p:nvSpPr>
          <p:cNvPr id="10" name="Text 7"/>
          <p:cNvSpPr txBox="1"/>
          <p:nvPr/>
        </p:nvSpPr>
        <p:spPr>
          <a:xfrm>
            <a:off x="4297680" y="1645920"/>
            <a:ext cx="4389120" cy="41148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The start page address, and the result page if there is one.</a:t>
            </a:r>
            <a:endParaRPr lang="en-US" sz="1150" dirty="0"/>
          </a:p>
        </p:txBody>
      </p:sp>
      <p:sp>
        <p:nvSpPr>
          <p:cNvPr id="11" name="Shape 8"/>
          <p:cNvSpPr/>
          <p:nvPr/>
        </p:nvSpPr>
        <p:spPr>
          <a:xfrm>
            <a:off x="3840480" y="2084832"/>
            <a:ext cx="310896" cy="310896"/>
          </a:xfrm>
          <a:prstGeom prst="ellipse">
            <a:avLst/>
          </a:prstGeom>
          <a:solidFill>
            <a:srgbClr val="2F63C9"/>
          </a:solidFill>
          <a:ln w="12700">
            <a:solidFill>
              <a:srgbClr val="2F63C9"/>
            </a:solidFill>
            <a:prstDash val="solid"/>
          </a:ln>
        </p:spPr>
      </p:sp>
      <p:sp>
        <p:nvSpPr>
          <p:cNvPr id="12" name="Text 9"/>
          <p:cNvSpPr txBox="1"/>
          <p:nvPr/>
        </p:nvSpPr>
        <p:spPr>
          <a:xfrm>
            <a:off x="3840480" y="20848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4297680" y="2066544"/>
            <a:ext cx="4389120" cy="274320"/>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How the paper starts and ends</a:t>
            </a:r>
            <a:endParaRPr lang="en-US" sz="1400" dirty="0"/>
          </a:p>
        </p:txBody>
      </p:sp>
      <p:sp>
        <p:nvSpPr>
          <p:cNvPr id="14" name="Text 11"/>
          <p:cNvSpPr txBox="1"/>
          <p:nvPr/>
        </p:nvSpPr>
        <p:spPr>
          <a:xfrm>
            <a:off x="4297680" y="2340864"/>
            <a:ext cx="4389120" cy="41148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The submit button text or a phrase from the "submitted" screen, plus the maximum length.</a:t>
            </a:r>
            <a:endParaRPr lang="en-US" sz="1150" dirty="0"/>
          </a:p>
        </p:txBody>
      </p:sp>
      <p:sp>
        <p:nvSpPr>
          <p:cNvPr id="15" name="Shape 12"/>
          <p:cNvSpPr/>
          <p:nvPr/>
        </p:nvSpPr>
        <p:spPr>
          <a:xfrm>
            <a:off x="3840480" y="2779776"/>
            <a:ext cx="310896" cy="310896"/>
          </a:xfrm>
          <a:prstGeom prst="ellipse">
            <a:avLst/>
          </a:prstGeom>
          <a:solidFill>
            <a:srgbClr val="2F63C9"/>
          </a:solidFill>
          <a:ln w="12700">
            <a:solidFill>
              <a:srgbClr val="2F63C9"/>
            </a:solidFill>
            <a:prstDash val="solid"/>
          </a:ln>
        </p:spPr>
      </p:sp>
      <p:sp>
        <p:nvSpPr>
          <p:cNvPr id="16" name="Text 13"/>
          <p:cNvSpPr txBox="1"/>
          <p:nvPr/>
        </p:nvSpPr>
        <p:spPr>
          <a:xfrm>
            <a:off x="3840480" y="27797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4297680" y="2761488"/>
            <a:ext cx="4389120" cy="274320"/>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This machine</a:t>
            </a:r>
            <a:endParaRPr lang="en-US" sz="1400" dirty="0"/>
          </a:p>
        </p:txBody>
      </p:sp>
      <p:sp>
        <p:nvSpPr>
          <p:cNvPr id="18" name="Text 15"/>
          <p:cNvSpPr txBox="1"/>
          <p:nvPr/>
        </p:nvSpPr>
        <p:spPr>
          <a:xfrm>
            <a:off x="4297680" y="3035808"/>
            <a:ext cx="4389120" cy="41148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A seat or centre ID for the file names, and the folder name.</a:t>
            </a:r>
            <a:endParaRPr lang="en-US" sz="1150" dirty="0"/>
          </a:p>
        </p:txBody>
      </p:sp>
      <p:sp>
        <p:nvSpPr>
          <p:cNvPr id="19" name="Shape 16"/>
          <p:cNvSpPr/>
          <p:nvPr/>
        </p:nvSpPr>
        <p:spPr>
          <a:xfrm>
            <a:off x="3840480" y="3474720"/>
            <a:ext cx="310896" cy="310896"/>
          </a:xfrm>
          <a:prstGeom prst="ellipse">
            <a:avLst/>
          </a:prstGeom>
          <a:solidFill>
            <a:srgbClr val="2F63C9"/>
          </a:solidFill>
          <a:ln w="12700">
            <a:solidFill>
              <a:srgbClr val="2F63C9"/>
            </a:solidFill>
            <a:prstDash val="solid"/>
          </a:ln>
        </p:spPr>
      </p:sp>
      <p:sp>
        <p:nvSpPr>
          <p:cNvPr id="20" name="Text 17"/>
          <p:cNvSpPr txBox="1"/>
          <p:nvPr/>
        </p:nvSpPr>
        <p:spPr>
          <a:xfrm>
            <a:off x="3840480" y="3474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4297680" y="3456432"/>
            <a:ext cx="4389120" cy="274320"/>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Recording</a:t>
            </a:r>
            <a:endParaRPr lang="en-US" sz="1400" dirty="0"/>
          </a:p>
        </p:txBody>
      </p:sp>
      <p:sp>
        <p:nvSpPr>
          <p:cNvPr id="22" name="Text 19"/>
          <p:cNvSpPr txBox="1"/>
          <p:nvPr/>
        </p:nvSpPr>
        <p:spPr>
          <a:xfrm>
            <a:off x="4297680" y="3730752"/>
            <a:ext cx="4389120" cy="41148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How often to take a routine screenshot; defaults are fine.</a:t>
            </a:r>
            <a:endParaRPr lang="en-US" sz="1150" dirty="0"/>
          </a:p>
        </p:txBody>
      </p:sp>
      <p:sp>
        <p:nvSpPr>
          <p:cNvPr id="23" name="Shape 20"/>
          <p:cNvSpPr/>
          <p:nvPr/>
        </p:nvSpPr>
        <p:spPr>
          <a:xfrm>
            <a:off x="3840480" y="4169664"/>
            <a:ext cx="310896" cy="310896"/>
          </a:xfrm>
          <a:prstGeom prst="ellipse">
            <a:avLst/>
          </a:prstGeom>
          <a:solidFill>
            <a:srgbClr val="2F63C9"/>
          </a:solidFill>
          <a:ln w="12700">
            <a:solidFill>
              <a:srgbClr val="2F63C9"/>
            </a:solidFill>
            <a:prstDash val="solid"/>
          </a:ln>
        </p:spPr>
      </p:sp>
      <p:sp>
        <p:nvSpPr>
          <p:cNvPr id="24" name="Text 21"/>
          <p:cNvSpPr txBox="1"/>
          <p:nvPr/>
        </p:nvSpPr>
        <p:spPr>
          <a:xfrm>
            <a:off x="3840480" y="41696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4297680" y="4151376"/>
            <a:ext cx="4389120" cy="274320"/>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Screen capture</a:t>
            </a:r>
            <a:endParaRPr lang="en-US" sz="1400" dirty="0"/>
          </a:p>
        </p:txBody>
      </p:sp>
      <p:sp>
        <p:nvSpPr>
          <p:cNvPr id="26" name="Text 23"/>
          <p:cNvSpPr txBox="1"/>
          <p:nvPr/>
        </p:nvSpPr>
        <p:spPr>
          <a:xfrm>
            <a:off x="4297680" y="4425696"/>
            <a:ext cx="4389120" cy="41148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Whole-screen pictures on or off, and how often to ask again if the candidate refuses.</a:t>
            </a:r>
            <a:endParaRPr lang="en-US" sz="1150" dirty="0"/>
          </a:p>
        </p:txBody>
      </p:sp>
      <p:sp>
        <p:nvSpPr>
          <p:cNvPr id="27" name="Text 24"/>
          <p:cNvSpPr txBox="1"/>
          <p:nvPr/>
        </p:nvSpPr>
        <p:spPr>
          <a:xfrm>
            <a:off x="3840480" y="4526280"/>
            <a:ext cx="4846320" cy="365760"/>
          </a:xfrm>
          <a:prstGeom prst="rect">
            <a:avLst/>
          </a:prstGeom>
          <a:noFill/>
          <a:ln/>
        </p:spPr>
        <p:txBody>
          <a:bodyPr wrap="square" lIns="0" tIns="0" rIns="0" bIns="0" rtlCol="0" anchor="t"/>
          <a:lstStyle/>
          <a:p>
            <a:pPr indent="0" marL="0">
              <a:buNone/>
            </a:pPr>
            <a:r>
              <a:rPr lang="en-US" sz="1100" i="1" dirty="0">
                <a:solidFill>
                  <a:srgbClr val="52514E"/>
                </a:solidFill>
                <a:latin typeface="Calibri" pitchFamily="34" charset="0"/>
                <a:ea typeface="Calibri" pitchFamily="34" charset="-122"/>
                <a:cs typeface="Calibri" pitchFamily="34" charset="-120"/>
              </a:rPr>
              <a:t>Shown: sections 1 and 2. Every field has a one-line explanation under it; the values for a given exam platform are usually worked out once and copied to every machine.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9</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Step 4: the page tells you what to fix</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Nothing is saved until every problem is cleared.</a:t>
            </a:r>
            <a:endParaRPr lang="en-US" sz="1400" dirty="0"/>
          </a:p>
        </p:txBody>
      </p:sp>
      <p:sp>
        <p:nvSpPr>
          <p:cNvPr id="5" name="Shape 3"/>
          <p:cNvSpPr/>
          <p:nvPr/>
        </p:nvSpPr>
        <p:spPr>
          <a:xfrm>
            <a:off x="457200" y="1371600"/>
            <a:ext cx="4754880" cy="2926080"/>
          </a:xfrm>
          <a:prstGeom prst="roundRect">
            <a:avLst>
              <a:gd name="adj" fmla="val 1875"/>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6" name="Image 0" descr="/Users/pawank/DiskAlpha/Development/exameye/docs/deck/img/options-error.png">    </p:cNvPr>
          <p:cNvPicPr>
            <a:picLocks noChangeAspect="1"/>
          </p:cNvPicPr>
          <p:nvPr/>
        </p:nvPicPr>
        <p:blipFill>
          <a:blip r:embed="rId1"/>
          <a:srcRect l="0" r="0" t="0" b="0"/>
          <a:stretch/>
        </p:blipFill>
        <p:spPr>
          <a:xfrm>
            <a:off x="512064" y="1426464"/>
            <a:ext cx="4645152" cy="2816352"/>
          </a:xfrm>
          <a:prstGeom prst="rect">
            <a:avLst/>
          </a:prstGeom>
        </p:spPr>
      </p:pic>
      <p:sp>
        <p:nvSpPr>
          <p:cNvPr id="7" name="Shape 4"/>
          <p:cNvSpPr/>
          <p:nvPr/>
        </p:nvSpPr>
        <p:spPr>
          <a:xfrm>
            <a:off x="457200" y="4297680"/>
            <a:ext cx="4754880" cy="502920"/>
          </a:xfrm>
          <a:prstGeom prst="roundRect">
            <a:avLst>
              <a:gd name="adj" fmla="val 10909"/>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8" name="Image 1" descr="/Users/pawank/DiskAlpha/Development/exameye/docs/deck/img/options-recording.png">    </p:cNvPr>
          <p:cNvPicPr>
            <a:picLocks noChangeAspect="1"/>
          </p:cNvPicPr>
          <p:nvPr/>
        </p:nvPicPr>
        <p:blipFill>
          <a:blip r:embed="rId2"/>
          <a:srcRect l="0" r="0" t="0" b="0"/>
          <a:stretch/>
        </p:blipFill>
        <p:spPr>
          <a:xfrm>
            <a:off x="512064" y="4352544"/>
            <a:ext cx="4645152" cy="393192"/>
          </a:xfrm>
          <a:prstGeom prst="rect">
            <a:avLst/>
          </a:prstGeom>
        </p:spPr>
      </p:pic>
      <p:sp>
        <p:nvSpPr>
          <p:cNvPr id="9" name="Text 5"/>
          <p:cNvSpPr txBox="1"/>
          <p:nvPr/>
        </p:nvSpPr>
        <p:spPr>
          <a:xfrm>
            <a:off x="5486400" y="1417320"/>
            <a:ext cx="320040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A problem is shown in red directly under the field it belongs to, in plain words.</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The Save bar counts the fields still to fix. The green "Saved." confirms the settings are stored.</a:t>
            </a:r>
            <a:endParaRPr lang="en-US" sz="1250" dirty="0"/>
          </a:p>
          <a:p>
            <a:pPr marL="177800" indent="-177800">
              <a:spcAft>
                <a:spcPts val="600"/>
              </a:spcAft>
              <a:buSzPct val="100000"/>
              <a:buChar char="•"/>
            </a:pPr>
            <a:r>
              <a:rPr lang="en-US" sz="1250" dirty="0">
                <a:solidFill>
                  <a:srgbClr val="0B0B0B"/>
                </a:solidFill>
                <a:latin typeface="Calibri" pitchFamily="34" charset="0"/>
                <a:ea typeface="Calibri" pitchFamily="34" charset="-122"/>
                <a:cs typeface="Calibri" pitchFamily="34" charset="-120"/>
              </a:rPr>
              <a:t>If a paper is being recorded on the machine, an orange notice appears at the top. Any change saved then is written into that paper’s log with the names of the fields, and the folder for the paper in progress does not move.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10</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Step 5: Dry run</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Ten minutes with a throw-away test login. Do it on the day, on every machine.</a:t>
            </a:r>
            <a:endParaRPr lang="en-US" sz="1400" dirty="0"/>
          </a:p>
        </p:txBody>
      </p:sp>
      <p:pic>
        <p:nvPicPr>
          <p:cNvPr id="5" name="Image 0" descr="/Users/pawank/DiskAlpha/Development/exameye/docs/deck/img/icons/check-green.png">    </p:cNvPr>
          <p:cNvPicPr>
            <a:picLocks noChangeAspect="1"/>
          </p:cNvPicPr>
          <p:nvPr/>
        </p:nvPicPr>
        <p:blipFill>
          <a:blip r:embed="rId1"/>
          <a:stretch>
            <a:fillRect/>
          </a:stretch>
        </p:blipFill>
        <p:spPr>
          <a:xfrm>
            <a:off x="457200" y="1435608"/>
            <a:ext cx="292608" cy="292608"/>
          </a:xfrm>
          <a:prstGeom prst="rect">
            <a:avLst/>
          </a:prstGeom>
        </p:spPr>
      </p:pic>
      <p:sp>
        <p:nvSpPr>
          <p:cNvPr id="6" name="Text 3"/>
          <p:cNvSpPr txBox="1"/>
          <p:nvPr/>
        </p:nvSpPr>
        <p:spPr>
          <a:xfrm>
            <a:off x="868680" y="1417320"/>
            <a:ext cx="4206240" cy="256032"/>
          </a:xfrm>
          <a:prstGeom prst="rect">
            <a:avLst/>
          </a:prstGeom>
          <a:noFill/>
          <a:ln/>
        </p:spPr>
        <p:txBody>
          <a:bodyPr wrap="square" lIns="0" tIns="0" rIns="0" bIns="0" rtlCol="0" anchor="t"/>
          <a:lstStyle/>
          <a:p>
            <a:pPr indent="0" marL="0">
              <a:buNone/>
            </a:pPr>
            <a:r>
              <a:rPr lang="en-US" sz="1250" b="1" dirty="0">
                <a:solidFill>
                  <a:srgbClr val="0F2A4A"/>
                </a:solidFill>
                <a:latin typeface="Calibri" pitchFamily="34" charset="0"/>
                <a:ea typeface="Calibri" pitchFamily="34" charset="-122"/>
                <a:cs typeface="Calibri" pitchFamily="34" charset="-120"/>
              </a:rPr>
              <a:t>Open the exam start page</a:t>
            </a:r>
            <a:endParaRPr lang="en-US" sz="1250" dirty="0"/>
          </a:p>
        </p:txBody>
      </p:sp>
      <p:sp>
        <p:nvSpPr>
          <p:cNvPr id="7" name="Text 4"/>
          <p:cNvSpPr txBox="1"/>
          <p:nvPr/>
        </p:nvSpPr>
        <p:spPr>
          <a:xfrm>
            <a:off x="868680" y="1664208"/>
            <a:ext cx="4206240" cy="27432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The icon shows a red 0; the popup says ARMED with a session id.</a:t>
            </a:r>
            <a:endParaRPr lang="en-US" sz="1100" dirty="0"/>
          </a:p>
        </p:txBody>
      </p:sp>
      <p:pic>
        <p:nvPicPr>
          <p:cNvPr id="8" name="Image 1" descr="/Users/pawank/DiskAlpha/Development/exameye/docs/deck/img/icons/check-green.png">    </p:cNvPr>
          <p:cNvPicPr>
            <a:picLocks noChangeAspect="1"/>
          </p:cNvPicPr>
          <p:nvPr/>
        </p:nvPicPr>
        <p:blipFill>
          <a:blip r:embed="rId2"/>
          <a:stretch>
            <a:fillRect/>
          </a:stretch>
        </p:blipFill>
        <p:spPr>
          <a:xfrm>
            <a:off x="457200" y="1984248"/>
            <a:ext cx="292608" cy="292608"/>
          </a:xfrm>
          <a:prstGeom prst="rect">
            <a:avLst/>
          </a:prstGeom>
        </p:spPr>
      </p:pic>
      <p:sp>
        <p:nvSpPr>
          <p:cNvPr id="9" name="Text 5"/>
          <p:cNvSpPr txBox="1"/>
          <p:nvPr/>
        </p:nvSpPr>
        <p:spPr>
          <a:xfrm>
            <a:off x="868680" y="1965960"/>
            <a:ext cx="4206240" cy="256032"/>
          </a:xfrm>
          <a:prstGeom prst="rect">
            <a:avLst/>
          </a:prstGeom>
          <a:noFill/>
          <a:ln/>
        </p:spPr>
        <p:txBody>
          <a:bodyPr wrap="square" lIns="0" tIns="0" rIns="0" bIns="0" rtlCol="0" anchor="t"/>
          <a:lstStyle/>
          <a:p>
            <a:pPr indent="0" marL="0">
              <a:buNone/>
            </a:pPr>
            <a:r>
              <a:rPr lang="en-US" sz="1250" b="1" dirty="0">
                <a:solidFill>
                  <a:srgbClr val="0F2A4A"/>
                </a:solidFill>
                <a:latin typeface="Calibri" pitchFamily="34" charset="0"/>
                <a:ea typeface="Calibri" pitchFamily="34" charset="-122"/>
                <a:cs typeface="Calibri" pitchFamily="34" charset="-120"/>
              </a:rPr>
              <a:t>Open another tab, then come back</a:t>
            </a:r>
            <a:endParaRPr lang="en-US" sz="1250" dirty="0"/>
          </a:p>
        </p:txBody>
      </p:sp>
      <p:sp>
        <p:nvSpPr>
          <p:cNvPr id="10" name="Text 6"/>
          <p:cNvSpPr txBox="1"/>
          <p:nvPr/>
        </p:nvSpPr>
        <p:spPr>
          <a:xfrm>
            <a:off x="868680" y="2212848"/>
            <a:ext cx="4206240" cy="27432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Popup counters show TAB_SWITCH: 1. The badge turns to 1.</a:t>
            </a:r>
            <a:endParaRPr lang="en-US" sz="1100" dirty="0"/>
          </a:p>
        </p:txBody>
      </p:sp>
      <p:pic>
        <p:nvPicPr>
          <p:cNvPr id="11" name="Image 2" descr="/Users/pawank/DiskAlpha/Development/exameye/docs/deck/img/icons/check-green.png">    </p:cNvPr>
          <p:cNvPicPr>
            <a:picLocks noChangeAspect="1"/>
          </p:cNvPicPr>
          <p:nvPr/>
        </p:nvPicPr>
        <p:blipFill>
          <a:blip r:embed="rId3"/>
          <a:stretch>
            <a:fillRect/>
          </a:stretch>
        </p:blipFill>
        <p:spPr>
          <a:xfrm>
            <a:off x="457200" y="2532888"/>
            <a:ext cx="292608" cy="292608"/>
          </a:xfrm>
          <a:prstGeom prst="rect">
            <a:avLst/>
          </a:prstGeom>
        </p:spPr>
      </p:pic>
      <p:sp>
        <p:nvSpPr>
          <p:cNvPr id="12" name="Text 7"/>
          <p:cNvSpPr txBox="1"/>
          <p:nvPr/>
        </p:nvSpPr>
        <p:spPr>
          <a:xfrm>
            <a:off x="868680" y="2514600"/>
            <a:ext cx="4206240" cy="256032"/>
          </a:xfrm>
          <a:prstGeom prst="rect">
            <a:avLst/>
          </a:prstGeom>
          <a:noFill/>
          <a:ln/>
        </p:spPr>
        <p:txBody>
          <a:bodyPr wrap="square" lIns="0" tIns="0" rIns="0" bIns="0" rtlCol="0" anchor="t"/>
          <a:lstStyle/>
          <a:p>
            <a:pPr indent="0" marL="0">
              <a:buNone/>
            </a:pPr>
            <a:r>
              <a:rPr lang="en-US" sz="1250" b="1" dirty="0">
                <a:solidFill>
                  <a:srgbClr val="0F2A4A"/>
                </a:solidFill>
                <a:latin typeface="Calibri" pitchFamily="34" charset="0"/>
                <a:ea typeface="Calibri" pitchFamily="34" charset="-122"/>
                <a:cs typeface="Calibri" pitchFamily="34" charset="-120"/>
              </a:rPr>
              <a:t>Minimise the window and restore it</a:t>
            </a:r>
            <a:endParaRPr lang="en-US" sz="1250" dirty="0"/>
          </a:p>
        </p:txBody>
      </p:sp>
      <p:sp>
        <p:nvSpPr>
          <p:cNvPr id="13" name="Text 8"/>
          <p:cNvSpPr txBox="1"/>
          <p:nvPr/>
        </p:nvSpPr>
        <p:spPr>
          <a:xfrm>
            <a:off x="868680" y="2761488"/>
            <a:ext cx="4206240" cy="27432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Counters show WINDOW_MINIMIZED: 1.</a:t>
            </a:r>
            <a:endParaRPr lang="en-US" sz="1100" dirty="0"/>
          </a:p>
        </p:txBody>
      </p:sp>
      <p:pic>
        <p:nvPicPr>
          <p:cNvPr id="14" name="Image 3" descr="/Users/pawank/DiskAlpha/Development/exameye/docs/deck/img/icons/check-green.png">    </p:cNvPr>
          <p:cNvPicPr>
            <a:picLocks noChangeAspect="1"/>
          </p:cNvPicPr>
          <p:nvPr/>
        </p:nvPicPr>
        <p:blipFill>
          <a:blip r:embed="rId4"/>
          <a:stretch>
            <a:fillRect/>
          </a:stretch>
        </p:blipFill>
        <p:spPr>
          <a:xfrm>
            <a:off x="457200" y="3081528"/>
            <a:ext cx="292608" cy="292608"/>
          </a:xfrm>
          <a:prstGeom prst="rect">
            <a:avLst/>
          </a:prstGeom>
        </p:spPr>
      </p:pic>
      <p:sp>
        <p:nvSpPr>
          <p:cNvPr id="15" name="Text 9"/>
          <p:cNvSpPr txBox="1"/>
          <p:nvPr/>
        </p:nvSpPr>
        <p:spPr>
          <a:xfrm>
            <a:off x="868680" y="3063240"/>
            <a:ext cx="4206240" cy="256032"/>
          </a:xfrm>
          <a:prstGeom prst="rect">
            <a:avLst/>
          </a:prstGeom>
          <a:noFill/>
          <a:ln/>
        </p:spPr>
        <p:txBody>
          <a:bodyPr wrap="square" lIns="0" tIns="0" rIns="0" bIns="0" rtlCol="0" anchor="t"/>
          <a:lstStyle/>
          <a:p>
            <a:pPr indent="0" marL="0">
              <a:buNone/>
            </a:pPr>
            <a:r>
              <a:rPr lang="en-US" sz="1250" b="1" dirty="0">
                <a:solidFill>
                  <a:srgbClr val="0F2A4A"/>
                </a:solidFill>
                <a:latin typeface="Calibri" pitchFamily="34" charset="0"/>
                <a:ea typeface="Calibri" pitchFamily="34" charset="-122"/>
                <a:cs typeface="Calibri" pitchFamily="34" charset="-120"/>
              </a:rPr>
              <a:t>Lock the screen or wait for the screensaver, then unlock</a:t>
            </a:r>
            <a:endParaRPr lang="en-US" sz="1250" dirty="0"/>
          </a:p>
        </p:txBody>
      </p:sp>
      <p:sp>
        <p:nvSpPr>
          <p:cNvPr id="16" name="Text 10"/>
          <p:cNvSpPr txBox="1"/>
          <p:nvPr/>
        </p:nvSpPr>
        <p:spPr>
          <a:xfrm>
            <a:off x="868680" y="3310128"/>
            <a:ext cx="4206240" cy="27432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Counters show SCREENSAVER: 1.</a:t>
            </a:r>
            <a:endParaRPr lang="en-US" sz="1100" dirty="0"/>
          </a:p>
        </p:txBody>
      </p:sp>
      <p:pic>
        <p:nvPicPr>
          <p:cNvPr id="17" name="Image 4" descr="/Users/pawank/DiskAlpha/Development/exameye/docs/deck/img/icons/check-green.png">    </p:cNvPr>
          <p:cNvPicPr>
            <a:picLocks noChangeAspect="1"/>
          </p:cNvPicPr>
          <p:nvPr/>
        </p:nvPicPr>
        <p:blipFill>
          <a:blip r:embed="rId5"/>
          <a:stretch>
            <a:fillRect/>
          </a:stretch>
        </p:blipFill>
        <p:spPr>
          <a:xfrm>
            <a:off x="457200" y="3630168"/>
            <a:ext cx="292608" cy="292608"/>
          </a:xfrm>
          <a:prstGeom prst="rect">
            <a:avLst/>
          </a:prstGeom>
        </p:spPr>
      </p:pic>
      <p:sp>
        <p:nvSpPr>
          <p:cNvPr id="18" name="Text 11"/>
          <p:cNvSpPr txBox="1"/>
          <p:nvPr/>
        </p:nvSpPr>
        <p:spPr>
          <a:xfrm>
            <a:off x="868680" y="3611880"/>
            <a:ext cx="4206240" cy="256032"/>
          </a:xfrm>
          <a:prstGeom prst="rect">
            <a:avLst/>
          </a:prstGeom>
          <a:noFill/>
          <a:ln/>
        </p:spPr>
        <p:txBody>
          <a:bodyPr wrap="square" lIns="0" tIns="0" rIns="0" bIns="0" rtlCol="0" anchor="t"/>
          <a:lstStyle/>
          <a:p>
            <a:pPr indent="0" marL="0">
              <a:buNone/>
            </a:pPr>
            <a:r>
              <a:rPr lang="en-US" sz="1250" b="1" dirty="0">
                <a:solidFill>
                  <a:srgbClr val="0F2A4A"/>
                </a:solidFill>
                <a:latin typeface="Calibri" pitchFamily="34" charset="0"/>
                <a:ea typeface="Calibri" pitchFamily="34" charset="-122"/>
                <a:cs typeface="Calibri" pitchFamily="34" charset="-120"/>
              </a:rPr>
              <a:t>Submit the test paper (or open the result page)</a:t>
            </a:r>
            <a:endParaRPr lang="en-US" sz="1250" dirty="0"/>
          </a:p>
        </p:txBody>
      </p:sp>
      <p:sp>
        <p:nvSpPr>
          <p:cNvPr id="19" name="Text 12"/>
          <p:cNvSpPr txBox="1"/>
          <p:nvPr/>
        </p:nvSpPr>
        <p:spPr>
          <a:xfrm>
            <a:off x="868680" y="3858768"/>
            <a:ext cx="4206240" cy="27432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State returns to IDLE. The badge disappears.</a:t>
            </a:r>
            <a:endParaRPr lang="en-US" sz="1100" dirty="0"/>
          </a:p>
        </p:txBody>
      </p:sp>
      <p:pic>
        <p:nvPicPr>
          <p:cNvPr id="20" name="Image 5" descr="/Users/pawank/DiskAlpha/Development/exameye/docs/deck/img/icons/check-green.png">    </p:cNvPr>
          <p:cNvPicPr>
            <a:picLocks noChangeAspect="1"/>
          </p:cNvPicPr>
          <p:nvPr/>
        </p:nvPicPr>
        <p:blipFill>
          <a:blip r:embed="rId6"/>
          <a:stretch>
            <a:fillRect/>
          </a:stretch>
        </p:blipFill>
        <p:spPr>
          <a:xfrm>
            <a:off x="457200" y="4178808"/>
            <a:ext cx="292608" cy="292608"/>
          </a:xfrm>
          <a:prstGeom prst="rect">
            <a:avLst/>
          </a:prstGeom>
        </p:spPr>
      </p:pic>
      <p:sp>
        <p:nvSpPr>
          <p:cNvPr id="21" name="Text 13"/>
          <p:cNvSpPr txBox="1"/>
          <p:nvPr/>
        </p:nvSpPr>
        <p:spPr>
          <a:xfrm>
            <a:off x="868680" y="4160520"/>
            <a:ext cx="4206240" cy="256032"/>
          </a:xfrm>
          <a:prstGeom prst="rect">
            <a:avLst/>
          </a:prstGeom>
          <a:noFill/>
          <a:ln/>
        </p:spPr>
        <p:txBody>
          <a:bodyPr wrap="square" lIns="0" tIns="0" rIns="0" bIns="0" rtlCol="0" anchor="t"/>
          <a:lstStyle/>
          <a:p>
            <a:pPr indent="0" marL="0">
              <a:buNone/>
            </a:pPr>
            <a:r>
              <a:rPr lang="en-US" sz="1250" b="1" dirty="0">
                <a:solidFill>
                  <a:srgbClr val="0F2A4A"/>
                </a:solidFill>
                <a:latin typeface="Calibri" pitchFamily="34" charset="0"/>
                <a:ea typeface="Calibri" pitchFamily="34" charset="-122"/>
                <a:cs typeface="Calibri" pitchFamily="34" charset="-120"/>
              </a:rPr>
              <a:t>Look in Downloads → ExamEye</a:t>
            </a:r>
            <a:endParaRPr lang="en-US" sz="1250" dirty="0"/>
          </a:p>
        </p:txBody>
      </p:sp>
      <p:sp>
        <p:nvSpPr>
          <p:cNvPr id="22" name="Text 14"/>
          <p:cNvSpPr txBox="1"/>
          <p:nvPr/>
        </p:nvSpPr>
        <p:spPr>
          <a:xfrm>
            <a:off x="868680" y="4407408"/>
            <a:ext cx="4206240" cy="27432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One folder with log.txt, summary.html and a screenshots folder.</a:t>
            </a:r>
            <a:endParaRPr lang="en-US" sz="1100" dirty="0"/>
          </a:p>
        </p:txBody>
      </p:sp>
      <p:sp>
        <p:nvSpPr>
          <p:cNvPr id="23" name="Shape 15"/>
          <p:cNvSpPr/>
          <p:nvPr/>
        </p:nvSpPr>
        <p:spPr>
          <a:xfrm>
            <a:off x="5212080" y="1371600"/>
            <a:ext cx="3474720" cy="3383280"/>
          </a:xfrm>
          <a:prstGeom prst="roundRect">
            <a:avLst>
              <a:gd name="adj" fmla="val 1622"/>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24" name="Image 6" descr="/Users/pawank/DiskAlpha/Development/exameye/docs/deck/img/popup-anchored.png">    </p:cNvPr>
          <p:cNvPicPr>
            <a:picLocks noChangeAspect="1"/>
          </p:cNvPicPr>
          <p:nvPr/>
        </p:nvPicPr>
        <p:blipFill>
          <a:blip r:embed="rId7"/>
          <a:srcRect l="0" r="0" t="0" b="0"/>
          <a:stretch/>
        </p:blipFill>
        <p:spPr>
          <a:xfrm>
            <a:off x="5266944" y="1426464"/>
            <a:ext cx="3364992" cy="32735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11</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On exam day: what you see</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Nothing to start. Glance at the icon; click it for detail.</a:t>
            </a:r>
            <a:endParaRPr lang="en-US" sz="1400" dirty="0"/>
          </a:p>
        </p:txBody>
      </p:sp>
      <p:sp>
        <p:nvSpPr>
          <p:cNvPr id="5" name="Shape 3"/>
          <p:cNvSpPr/>
          <p:nvPr/>
        </p:nvSpPr>
        <p:spPr>
          <a:xfrm>
            <a:off x="457200" y="1371600"/>
            <a:ext cx="4937760" cy="1371600"/>
          </a:xfrm>
          <a:prstGeom prst="roundRect">
            <a:avLst>
              <a:gd name="adj" fmla="val 4000"/>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6" name="Image 0" descr="/Users/pawank/DiskAlpha/Development/exameye/docs/deck/img/toolbar-badge.png">    </p:cNvPr>
          <p:cNvPicPr>
            <a:picLocks noChangeAspect="1"/>
          </p:cNvPicPr>
          <p:nvPr/>
        </p:nvPicPr>
        <p:blipFill>
          <a:blip r:embed="rId1"/>
          <a:srcRect l="0" r="0" t="0" b="0"/>
          <a:stretch/>
        </p:blipFill>
        <p:spPr>
          <a:xfrm>
            <a:off x="512064" y="1426464"/>
            <a:ext cx="4828032" cy="1261872"/>
          </a:xfrm>
          <a:prstGeom prst="rect">
            <a:avLst/>
          </a:prstGeom>
        </p:spPr>
      </p:pic>
      <p:sp>
        <p:nvSpPr>
          <p:cNvPr id="7" name="Shape 4"/>
          <p:cNvSpPr/>
          <p:nvPr/>
        </p:nvSpPr>
        <p:spPr>
          <a:xfrm>
            <a:off x="457200" y="2834640"/>
            <a:ext cx="2103120" cy="1965960"/>
          </a:xfrm>
          <a:prstGeom prst="roundRect">
            <a:avLst>
              <a:gd name="adj" fmla="val 2791"/>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8" name="Image 1" descr="/Users/pawank/DiskAlpha/Development/exameye/docs/deck/img/popup-armed.png">    </p:cNvPr>
          <p:cNvPicPr>
            <a:picLocks noChangeAspect="1"/>
          </p:cNvPicPr>
          <p:nvPr/>
        </p:nvPicPr>
        <p:blipFill>
          <a:blip r:embed="rId2"/>
          <a:srcRect l="0" r="0" t="0" b="0"/>
          <a:stretch/>
        </p:blipFill>
        <p:spPr>
          <a:xfrm>
            <a:off x="512064" y="2889504"/>
            <a:ext cx="1993392" cy="1856232"/>
          </a:xfrm>
          <a:prstGeom prst="rect">
            <a:avLst/>
          </a:prstGeom>
        </p:spPr>
      </p:pic>
      <p:pic>
        <p:nvPicPr>
          <p:cNvPr id="9" name="Image 2" descr="/Users/pawank/DiskAlpha/Development/exameye/docs/deck/img/icons/flag-red.png">    </p:cNvPr>
          <p:cNvPicPr>
            <a:picLocks noChangeAspect="1"/>
          </p:cNvPicPr>
          <p:nvPr/>
        </p:nvPicPr>
        <p:blipFill>
          <a:blip r:embed="rId3"/>
          <a:stretch>
            <a:fillRect/>
          </a:stretch>
        </p:blipFill>
        <p:spPr>
          <a:xfrm>
            <a:off x="2743200" y="2926080"/>
            <a:ext cx="384048" cy="384048"/>
          </a:xfrm>
          <a:prstGeom prst="rect">
            <a:avLst/>
          </a:prstGeom>
        </p:spPr>
      </p:pic>
      <p:sp>
        <p:nvSpPr>
          <p:cNvPr id="10" name="Text 5"/>
          <p:cNvSpPr txBox="1"/>
          <p:nvPr/>
        </p:nvSpPr>
        <p:spPr>
          <a:xfrm>
            <a:off x="3246120" y="2926080"/>
            <a:ext cx="2148840" cy="237744"/>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Red badge = flagged events</a:t>
            </a:r>
            <a:endParaRPr lang="en-US" sz="1400" dirty="0"/>
          </a:p>
        </p:txBody>
      </p:sp>
      <p:sp>
        <p:nvSpPr>
          <p:cNvPr id="11" name="Text 6"/>
          <p:cNvSpPr txBox="1"/>
          <p:nvPr/>
        </p:nvSpPr>
        <p:spPr>
          <a:xfrm>
            <a:off x="3246120" y="3163824"/>
            <a:ext cx="214884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Tab switches, other pages, copy, focus lost… counted live. 0 in red means recording with nothing flagged yet.</a:t>
            </a:r>
            <a:endParaRPr lang="en-US" sz="1150" dirty="0"/>
          </a:p>
        </p:txBody>
      </p:sp>
      <p:pic>
        <p:nvPicPr>
          <p:cNvPr id="12" name="Image 3" descr="/Users/pawank/DiskAlpha/Development/exameye/docs/deck/img/icons/eye-blue.png">    </p:cNvPr>
          <p:cNvPicPr>
            <a:picLocks noChangeAspect="1"/>
          </p:cNvPicPr>
          <p:nvPr/>
        </p:nvPicPr>
        <p:blipFill>
          <a:blip r:embed="rId4"/>
          <a:stretch>
            <a:fillRect/>
          </a:stretch>
        </p:blipFill>
        <p:spPr>
          <a:xfrm>
            <a:off x="2743200" y="3931920"/>
            <a:ext cx="384048" cy="384048"/>
          </a:xfrm>
          <a:prstGeom prst="rect">
            <a:avLst/>
          </a:prstGeom>
        </p:spPr>
      </p:pic>
      <p:sp>
        <p:nvSpPr>
          <p:cNvPr id="13" name="Text 7"/>
          <p:cNvSpPr txBox="1"/>
          <p:nvPr/>
        </p:nvSpPr>
        <p:spPr>
          <a:xfrm>
            <a:off x="3246120" y="3931920"/>
            <a:ext cx="2148840" cy="237744"/>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State ARMED = recording</a:t>
            </a:r>
            <a:endParaRPr lang="en-US" sz="1400" dirty="0"/>
          </a:p>
        </p:txBody>
      </p:sp>
      <p:sp>
        <p:nvSpPr>
          <p:cNvPr id="14" name="Text 8"/>
          <p:cNvSpPr txBox="1"/>
          <p:nvPr/>
        </p:nvSpPr>
        <p:spPr>
          <a:xfrm>
            <a:off x="3246120" y="4169664"/>
            <a:ext cx="214884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CLOSING means the paper was submitted and the last minutes are still being watched. IDLE means no paper is open.</a:t>
            </a:r>
            <a:endParaRPr lang="en-US" sz="1150" dirty="0"/>
          </a:p>
        </p:txBody>
      </p:sp>
      <p:pic>
        <p:nvPicPr>
          <p:cNvPr id="15" name="Image 4" descr="/Users/pawank/DiskAlpha/Development/exameye/docs/deck/img/icons/doc-blue.png">    </p:cNvPr>
          <p:cNvPicPr>
            <a:picLocks noChangeAspect="1"/>
          </p:cNvPicPr>
          <p:nvPr/>
        </p:nvPicPr>
        <p:blipFill>
          <a:blip r:embed="rId5"/>
          <a:stretch>
            <a:fillRect/>
          </a:stretch>
        </p:blipFill>
        <p:spPr>
          <a:xfrm>
            <a:off x="5760720" y="1463040"/>
            <a:ext cx="384048" cy="384048"/>
          </a:xfrm>
          <a:prstGeom prst="rect">
            <a:avLst/>
          </a:prstGeom>
        </p:spPr>
      </p:pic>
      <p:sp>
        <p:nvSpPr>
          <p:cNvPr id="16" name="Text 9"/>
          <p:cNvSpPr txBox="1"/>
          <p:nvPr/>
        </p:nvSpPr>
        <p:spPr>
          <a:xfrm>
            <a:off x="6263640" y="1463040"/>
            <a:ext cx="2423160" cy="237744"/>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Session</a:t>
            </a:r>
            <a:endParaRPr lang="en-US" sz="1400" dirty="0"/>
          </a:p>
        </p:txBody>
      </p:sp>
      <p:sp>
        <p:nvSpPr>
          <p:cNvPr id="17" name="Text 10"/>
          <p:cNvSpPr txBox="1"/>
          <p:nvPr/>
        </p:nvSpPr>
        <p:spPr>
          <a:xfrm>
            <a:off x="6263640" y="1700784"/>
            <a:ext cx="242316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The date, time and seat ID that name the output folder.</a:t>
            </a:r>
            <a:endParaRPr lang="en-US" sz="1150" dirty="0"/>
          </a:p>
        </p:txBody>
      </p:sp>
      <p:pic>
        <p:nvPicPr>
          <p:cNvPr id="18" name="Image 5" descr="/Users/pawank/DiskAlpha/Development/exameye/docs/deck/img/icons/clock-blue.png">    </p:cNvPr>
          <p:cNvPicPr>
            <a:picLocks noChangeAspect="1"/>
          </p:cNvPicPr>
          <p:nvPr/>
        </p:nvPicPr>
        <p:blipFill>
          <a:blip r:embed="rId6"/>
          <a:stretch>
            <a:fillRect/>
          </a:stretch>
        </p:blipFill>
        <p:spPr>
          <a:xfrm>
            <a:off x="5760720" y="2468880"/>
            <a:ext cx="384048" cy="384048"/>
          </a:xfrm>
          <a:prstGeom prst="rect">
            <a:avLst/>
          </a:prstGeom>
        </p:spPr>
      </p:pic>
      <p:sp>
        <p:nvSpPr>
          <p:cNvPr id="19" name="Text 11"/>
          <p:cNvSpPr txBox="1"/>
          <p:nvPr/>
        </p:nvSpPr>
        <p:spPr>
          <a:xfrm>
            <a:off x="6263640" y="2468880"/>
            <a:ext cx="2423160" cy="237744"/>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Last flush</a:t>
            </a:r>
            <a:endParaRPr lang="en-US" sz="1400" dirty="0"/>
          </a:p>
        </p:txBody>
      </p:sp>
      <p:sp>
        <p:nvSpPr>
          <p:cNvPr id="20" name="Text 12"/>
          <p:cNvSpPr txBox="1"/>
          <p:nvPr/>
        </p:nvSpPr>
        <p:spPr>
          <a:xfrm>
            <a:off x="6263640" y="2706624"/>
            <a:ext cx="242316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When files were last written to disk. It updates every 30 seconds while recording.</a:t>
            </a:r>
            <a:endParaRPr lang="en-US" sz="1150" dirty="0"/>
          </a:p>
        </p:txBody>
      </p:sp>
      <p:pic>
        <p:nvPicPr>
          <p:cNvPr id="21" name="Image 6" descr="/Users/pawank/DiskAlpha/Development/exameye/docs/deck/img/icons/warning-amber.png">    </p:cNvPr>
          <p:cNvPicPr>
            <a:picLocks noChangeAspect="1"/>
          </p:cNvPicPr>
          <p:nvPr/>
        </p:nvPicPr>
        <p:blipFill>
          <a:blip r:embed="rId7"/>
          <a:stretch>
            <a:fillRect/>
          </a:stretch>
        </p:blipFill>
        <p:spPr>
          <a:xfrm>
            <a:off x="5760720" y="3474720"/>
            <a:ext cx="384048" cy="384048"/>
          </a:xfrm>
          <a:prstGeom prst="rect">
            <a:avLst/>
          </a:prstGeom>
        </p:spPr>
      </p:pic>
      <p:sp>
        <p:nvSpPr>
          <p:cNvPr id="22" name="Text 13"/>
          <p:cNvSpPr txBox="1"/>
          <p:nvPr/>
        </p:nvSpPr>
        <p:spPr>
          <a:xfrm>
            <a:off x="6263640" y="3474720"/>
            <a:ext cx="2423160" cy="237744"/>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Errors</a:t>
            </a:r>
            <a:endParaRPr lang="en-US" sz="1400" dirty="0"/>
          </a:p>
        </p:txBody>
      </p:sp>
      <p:sp>
        <p:nvSpPr>
          <p:cNvPr id="23" name="Text 14"/>
          <p:cNvSpPr txBox="1"/>
          <p:nvPr/>
        </p:nvSpPr>
        <p:spPr>
          <a:xfrm>
            <a:off x="6263640" y="3712464"/>
            <a:ext cx="242316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Normally a dash. Anything else names the setting or the file that failed; the setup page opens from the link.</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12</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Screen capture: the one thing the candidate does</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When the start page opens, Chrome asks once to share the screen.</a:t>
            </a:r>
            <a:endParaRPr lang="en-US" sz="1400" dirty="0"/>
          </a:p>
        </p:txBody>
      </p:sp>
      <p:sp>
        <p:nvSpPr>
          <p:cNvPr id="5" name="Shape 3"/>
          <p:cNvSpPr/>
          <p:nvPr/>
        </p:nvSpPr>
        <p:spPr>
          <a:xfrm>
            <a:off x="457200" y="1371600"/>
            <a:ext cx="4206240" cy="2743200"/>
          </a:xfrm>
          <a:prstGeom prst="roundRect">
            <a:avLst>
              <a:gd name="adj" fmla="val 2000"/>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6" name="Image 0" descr="/Users/pawank/DiskAlpha/Development/exameye/docs/deck/img/share-dialog.png">    </p:cNvPr>
          <p:cNvPicPr>
            <a:picLocks noChangeAspect="1"/>
          </p:cNvPicPr>
          <p:nvPr/>
        </p:nvPicPr>
        <p:blipFill>
          <a:blip r:embed="rId1"/>
          <a:srcRect l="0" r="0" t="0" b="0"/>
          <a:stretch/>
        </p:blipFill>
        <p:spPr>
          <a:xfrm>
            <a:off x="512064" y="1426464"/>
            <a:ext cx="4096512" cy="2633472"/>
          </a:xfrm>
          <a:prstGeom prst="rect">
            <a:avLst/>
          </a:prstGeom>
        </p:spPr>
      </p:pic>
      <p:sp>
        <p:nvSpPr>
          <p:cNvPr id="7" name="Shape 4"/>
          <p:cNvSpPr/>
          <p:nvPr/>
        </p:nvSpPr>
        <p:spPr>
          <a:xfrm>
            <a:off x="457200" y="4206240"/>
            <a:ext cx="4206240" cy="594360"/>
          </a:xfrm>
          <a:prstGeom prst="roundRect">
            <a:avLst>
              <a:gd name="adj" fmla="val 9231"/>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8" name="Image 1" descr="/Users/pawank/DiskAlpha/Development/exameye/docs/deck/img/holder.png">    </p:cNvPr>
          <p:cNvPicPr>
            <a:picLocks noChangeAspect="1"/>
          </p:cNvPicPr>
          <p:nvPr/>
        </p:nvPicPr>
        <p:blipFill>
          <a:blip r:embed="rId2"/>
          <a:srcRect l="0" r="0" t="0" b="0"/>
          <a:stretch/>
        </p:blipFill>
        <p:spPr>
          <a:xfrm>
            <a:off x="512064" y="4261104"/>
            <a:ext cx="4096512" cy="484632"/>
          </a:xfrm>
          <a:prstGeom prst="rect">
            <a:avLst/>
          </a:prstGeom>
        </p:spPr>
      </p:pic>
      <p:sp>
        <p:nvSpPr>
          <p:cNvPr id="9" name="Text 5"/>
          <p:cNvSpPr txBox="1"/>
          <p:nvPr/>
        </p:nvSpPr>
        <p:spPr>
          <a:xfrm>
            <a:off x="4937760" y="1417320"/>
            <a:ext cx="3749040" cy="34747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0B0B0B"/>
                </a:solidFill>
                <a:latin typeface="Calibri" pitchFamily="34" charset="0"/>
                <a:ea typeface="Calibri" pitchFamily="34" charset="-122"/>
                <a:cs typeface="Calibri" pitchFamily="34" charset="-120"/>
              </a:rPr>
              <a:t>A small "ExamEye screen capture" window appears and Chrome shows its share dialog.</a:t>
            </a:r>
            <a:endParaRPr lang="en-US" sz="1150" dirty="0"/>
          </a:p>
          <a:p>
            <a:pPr marL="177800" indent="-177800">
              <a:spcAft>
                <a:spcPts val="600"/>
              </a:spcAft>
              <a:buSzPct val="100000"/>
              <a:buChar char="•"/>
            </a:pPr>
            <a:r>
              <a:rPr lang="en-US" sz="1150" dirty="0">
                <a:solidFill>
                  <a:srgbClr val="0B0B0B"/>
                </a:solidFill>
                <a:latin typeface="Calibri" pitchFamily="34" charset="0"/>
                <a:ea typeface="Calibri" pitchFamily="34" charset="-122"/>
                <a:cs typeface="Calibri" pitchFamily="34" charset="-120"/>
              </a:rPr>
              <a:t>The candidate clicks the screen preview, then Share. Chrome only enables Share after the preview is clicked.</a:t>
            </a:r>
            <a:endParaRPr lang="en-US" sz="1150" dirty="0"/>
          </a:p>
          <a:p>
            <a:pPr marL="177800" indent="-177800">
              <a:spcAft>
                <a:spcPts val="600"/>
              </a:spcAft>
              <a:buSzPct val="100000"/>
              <a:buChar char="•"/>
            </a:pPr>
            <a:r>
              <a:rPr lang="en-US" sz="1150" dirty="0">
                <a:solidFill>
                  <a:srgbClr val="0B0B0B"/>
                </a:solidFill>
                <a:latin typeface="Calibri" pitchFamily="34" charset="0"/>
                <a:ea typeface="Calibri" pitchFamily="34" charset="-122"/>
                <a:cs typeface="Calibri" pitchFamily="34" charset="-120"/>
              </a:rPr>
              <a:t>The small window minimises itself. It must stay open; closing it stops capture and is logged.</a:t>
            </a:r>
            <a:endParaRPr lang="en-US" sz="1150" dirty="0"/>
          </a:p>
          <a:p>
            <a:pPr marL="177800" indent="-177800">
              <a:spcAft>
                <a:spcPts val="600"/>
              </a:spcAft>
              <a:buSzPct val="100000"/>
              <a:buChar char="•"/>
            </a:pPr>
            <a:r>
              <a:rPr lang="en-US" sz="1150" dirty="0">
                <a:solidFill>
                  <a:srgbClr val="0B0B0B"/>
                </a:solidFill>
                <a:latin typeface="Calibri" pitchFamily="34" charset="0"/>
                <a:ea typeface="Calibri" pitchFamily="34" charset="-122"/>
                <a:cs typeface="Calibri" pitchFamily="34" charset="-120"/>
              </a:rPr>
              <a:t>Whole-screen pictures are then taken while Chrome is not the active window and at each routine screenshot.</a:t>
            </a:r>
            <a:endParaRPr lang="en-US" sz="1150" dirty="0"/>
          </a:p>
          <a:p>
            <a:pPr marL="177800" indent="-177800">
              <a:spcAft>
                <a:spcPts val="600"/>
              </a:spcAft>
              <a:buSzPct val="100000"/>
              <a:buChar char="•"/>
            </a:pPr>
            <a:r>
              <a:rPr lang="en-US" sz="1150" dirty="0">
                <a:solidFill>
                  <a:srgbClr val="0B0B0B"/>
                </a:solidFill>
                <a:latin typeface="Calibri" pitchFamily="34" charset="0"/>
                <a:ea typeface="Calibri" pitchFamily="34" charset="-122"/>
                <a:cs typeface="Calibri" pitchFamily="34" charset="-120"/>
              </a:rPr>
              <a:t>If the candidate cancels, that is logged and the question is asked again after five minutes (adjustable).</a:t>
            </a:r>
            <a:endParaRPr lang="en-US" sz="1150" dirty="0"/>
          </a:p>
          <a:p>
            <a:pPr marL="177800" indent="-177800">
              <a:spcAft>
                <a:spcPts val="600"/>
              </a:spcAft>
              <a:buSzPct val="100000"/>
              <a:buChar char="•"/>
            </a:pPr>
            <a:r>
              <a:rPr lang="en-US" sz="1150" dirty="0">
                <a:solidFill>
                  <a:srgbClr val="0B0B0B"/>
                </a:solidFill>
                <a:latin typeface="Calibri" pitchFamily="34" charset="0"/>
                <a:ea typeface="Calibri" pitchFamily="34" charset="-122"/>
                <a:cs typeface="Calibri" pitchFamily="34" charset="-120"/>
              </a:rPr>
              <a:t>With two screens, only the shared one is captured, and the paper is flagged MULTI_MONITOR.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13</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What you get: one folder per paper</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Downloads → ExamEye → &lt;date-time_seat&gt;. Open summary.html in any browser.</a:t>
            </a:r>
            <a:endParaRPr lang="en-US" sz="1400" dirty="0"/>
          </a:p>
        </p:txBody>
      </p:sp>
      <p:sp>
        <p:nvSpPr>
          <p:cNvPr id="5" name="Shape 3"/>
          <p:cNvSpPr/>
          <p:nvPr/>
        </p:nvSpPr>
        <p:spPr>
          <a:xfrm>
            <a:off x="457200" y="1371600"/>
            <a:ext cx="3566160" cy="3429000"/>
          </a:xfrm>
          <a:prstGeom prst="roundRect">
            <a:avLst>
              <a:gd name="adj" fmla="val 2133"/>
            </a:avLst>
          </a:prstGeom>
          <a:solidFill>
            <a:srgbClr val="F6F5F2"/>
          </a:solidFill>
          <a:ln w="9525">
            <a:solidFill>
              <a:srgbClr val="E6E4DF"/>
            </a:solidFill>
            <a:prstDash val="solid"/>
          </a:ln>
        </p:spPr>
      </p:sp>
      <p:pic>
        <p:nvPicPr>
          <p:cNvPr id="6" name="Image 0" descr="/Users/pawank/DiskAlpha/Development/exameye/docs/deck/img/icons/folder-amber.png">    </p:cNvPr>
          <p:cNvPicPr>
            <a:picLocks noChangeAspect="1"/>
          </p:cNvPicPr>
          <p:nvPr/>
        </p:nvPicPr>
        <p:blipFill>
          <a:blip r:embed="rId1"/>
          <a:stretch>
            <a:fillRect/>
          </a:stretch>
        </p:blipFill>
        <p:spPr>
          <a:xfrm>
            <a:off x="594360" y="1527048"/>
            <a:ext cx="274320" cy="274320"/>
          </a:xfrm>
          <a:prstGeom prst="rect">
            <a:avLst/>
          </a:prstGeom>
        </p:spPr>
      </p:pic>
      <p:sp>
        <p:nvSpPr>
          <p:cNvPr id="7" name="Text 4"/>
          <p:cNvSpPr txBox="1"/>
          <p:nvPr/>
        </p:nvSpPr>
        <p:spPr>
          <a:xfrm>
            <a:off x="960120" y="1508760"/>
            <a:ext cx="2926080" cy="219456"/>
          </a:xfrm>
          <a:prstGeom prst="rect">
            <a:avLst/>
          </a:prstGeom>
          <a:noFill/>
          <a:ln/>
        </p:spPr>
        <p:txBody>
          <a:bodyPr wrap="square" lIns="0" tIns="0" rIns="0" bIns="0" rtlCol="0" anchor="t"/>
          <a:lstStyle/>
          <a:p>
            <a:pPr indent="0" marL="0">
              <a:buNone/>
            </a:pPr>
            <a:r>
              <a:rPr lang="en-US" sz="1150" b="1" dirty="0">
                <a:solidFill>
                  <a:srgbClr val="0F2A4A"/>
                </a:solidFill>
                <a:latin typeface="Courier New" pitchFamily="34" charset="0"/>
                <a:ea typeface="Courier New" pitchFamily="34" charset="-122"/>
                <a:cs typeface="Courier New" pitchFamily="34" charset="-120"/>
              </a:rPr>
              <a:t>20260916-131011_C12-S07/</a:t>
            </a:r>
            <a:endParaRPr lang="en-US" sz="1150" dirty="0"/>
          </a:p>
        </p:txBody>
      </p:sp>
      <p:sp>
        <p:nvSpPr>
          <p:cNvPr id="8" name="Text 5"/>
          <p:cNvSpPr txBox="1"/>
          <p:nvPr/>
        </p:nvSpPr>
        <p:spPr>
          <a:xfrm>
            <a:off x="960120" y="1719072"/>
            <a:ext cx="2926080" cy="228600"/>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date, time and seat ID</a:t>
            </a:r>
            <a:endParaRPr lang="en-US" sz="1000" dirty="0"/>
          </a:p>
        </p:txBody>
      </p:sp>
      <p:pic>
        <p:nvPicPr>
          <p:cNvPr id="9" name="Image 1" descr="/Users/pawank/DiskAlpha/Development/exameye/docs/deck/img/icons/doc-blue.png">    </p:cNvPr>
          <p:cNvPicPr>
            <a:picLocks noChangeAspect="1"/>
          </p:cNvPicPr>
          <p:nvPr/>
        </p:nvPicPr>
        <p:blipFill>
          <a:blip r:embed="rId2"/>
          <a:stretch>
            <a:fillRect/>
          </a:stretch>
        </p:blipFill>
        <p:spPr>
          <a:xfrm>
            <a:off x="868680" y="1984248"/>
            <a:ext cx="274320" cy="274320"/>
          </a:xfrm>
          <a:prstGeom prst="rect">
            <a:avLst/>
          </a:prstGeom>
        </p:spPr>
      </p:pic>
      <p:sp>
        <p:nvSpPr>
          <p:cNvPr id="10" name="Text 6"/>
          <p:cNvSpPr txBox="1"/>
          <p:nvPr/>
        </p:nvSpPr>
        <p:spPr>
          <a:xfrm>
            <a:off x="1234440" y="1965960"/>
            <a:ext cx="2926080" cy="219456"/>
          </a:xfrm>
          <a:prstGeom prst="rect">
            <a:avLst/>
          </a:prstGeom>
          <a:noFill/>
          <a:ln/>
        </p:spPr>
        <p:txBody>
          <a:bodyPr wrap="square" lIns="0" tIns="0" rIns="0" bIns="0" rtlCol="0" anchor="t"/>
          <a:lstStyle/>
          <a:p>
            <a:pPr indent="0" marL="0">
              <a:buNone/>
            </a:pPr>
            <a:r>
              <a:rPr lang="en-US" sz="1150" b="1" dirty="0">
                <a:solidFill>
                  <a:srgbClr val="0F2A4A"/>
                </a:solidFill>
                <a:latin typeface="Courier New" pitchFamily="34" charset="0"/>
                <a:ea typeface="Courier New" pitchFamily="34" charset="-122"/>
                <a:cs typeface="Courier New" pitchFamily="34" charset="-120"/>
              </a:rPr>
              <a:t>summary.html</a:t>
            </a:r>
            <a:endParaRPr lang="en-US" sz="1150" dirty="0"/>
          </a:p>
        </p:txBody>
      </p:sp>
      <p:sp>
        <p:nvSpPr>
          <p:cNvPr id="11" name="Text 7"/>
          <p:cNvSpPr txBox="1"/>
          <p:nvPr/>
        </p:nvSpPr>
        <p:spPr>
          <a:xfrm>
            <a:off x="1234440" y="2176272"/>
            <a:ext cx="2926080" cy="228600"/>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the report: flags, timeline, every screenshot</a:t>
            </a:r>
            <a:endParaRPr lang="en-US" sz="1000" dirty="0"/>
          </a:p>
        </p:txBody>
      </p:sp>
      <p:pic>
        <p:nvPicPr>
          <p:cNvPr id="12" name="Image 2" descr="/Users/pawank/DiskAlpha/Development/exameye/docs/deck/img/icons/doc-blue.png">    </p:cNvPr>
          <p:cNvPicPr>
            <a:picLocks noChangeAspect="1"/>
          </p:cNvPicPr>
          <p:nvPr/>
        </p:nvPicPr>
        <p:blipFill>
          <a:blip r:embed="rId3"/>
          <a:stretch>
            <a:fillRect/>
          </a:stretch>
        </p:blipFill>
        <p:spPr>
          <a:xfrm>
            <a:off x="868680" y="2441448"/>
            <a:ext cx="274320" cy="274320"/>
          </a:xfrm>
          <a:prstGeom prst="rect">
            <a:avLst/>
          </a:prstGeom>
        </p:spPr>
      </p:pic>
      <p:sp>
        <p:nvSpPr>
          <p:cNvPr id="13" name="Text 8"/>
          <p:cNvSpPr txBox="1"/>
          <p:nvPr/>
        </p:nvSpPr>
        <p:spPr>
          <a:xfrm>
            <a:off x="1234440" y="2423160"/>
            <a:ext cx="2926080" cy="219456"/>
          </a:xfrm>
          <a:prstGeom prst="rect">
            <a:avLst/>
          </a:prstGeom>
          <a:noFill/>
          <a:ln/>
        </p:spPr>
        <p:txBody>
          <a:bodyPr wrap="square" lIns="0" tIns="0" rIns="0" bIns="0" rtlCol="0" anchor="t"/>
          <a:lstStyle/>
          <a:p>
            <a:pPr indent="0" marL="0">
              <a:buNone/>
            </a:pPr>
            <a:r>
              <a:rPr lang="en-US" sz="1150" b="1" dirty="0">
                <a:solidFill>
                  <a:srgbClr val="0F2A4A"/>
                </a:solidFill>
                <a:latin typeface="Courier New" pitchFamily="34" charset="0"/>
                <a:ea typeface="Courier New" pitchFamily="34" charset="-122"/>
                <a:cs typeface="Courier New" pitchFamily="34" charset="-120"/>
              </a:rPr>
              <a:t>summary.txt</a:t>
            </a:r>
            <a:endParaRPr lang="en-US" sz="1150" dirty="0"/>
          </a:p>
        </p:txBody>
      </p:sp>
      <p:sp>
        <p:nvSpPr>
          <p:cNvPr id="14" name="Text 9"/>
          <p:cNvSpPr txBox="1"/>
          <p:nvPr/>
        </p:nvSpPr>
        <p:spPr>
          <a:xfrm>
            <a:off x="1234440" y="2633472"/>
            <a:ext cx="2926080" cy="228600"/>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the same report as plain text</a:t>
            </a:r>
            <a:endParaRPr lang="en-US" sz="1000" dirty="0"/>
          </a:p>
        </p:txBody>
      </p:sp>
      <p:pic>
        <p:nvPicPr>
          <p:cNvPr id="15" name="Image 3" descr="/Users/pawank/DiskAlpha/Development/exameye/docs/deck/img/icons/doc-navy.png">    </p:cNvPr>
          <p:cNvPicPr>
            <a:picLocks noChangeAspect="1"/>
          </p:cNvPicPr>
          <p:nvPr/>
        </p:nvPicPr>
        <p:blipFill>
          <a:blip r:embed="rId4"/>
          <a:stretch>
            <a:fillRect/>
          </a:stretch>
        </p:blipFill>
        <p:spPr>
          <a:xfrm>
            <a:off x="868680" y="2898648"/>
            <a:ext cx="274320" cy="274320"/>
          </a:xfrm>
          <a:prstGeom prst="rect">
            <a:avLst/>
          </a:prstGeom>
        </p:spPr>
      </p:pic>
      <p:sp>
        <p:nvSpPr>
          <p:cNvPr id="16" name="Text 10"/>
          <p:cNvSpPr txBox="1"/>
          <p:nvPr/>
        </p:nvSpPr>
        <p:spPr>
          <a:xfrm>
            <a:off x="1234440" y="2880360"/>
            <a:ext cx="2926080" cy="219456"/>
          </a:xfrm>
          <a:prstGeom prst="rect">
            <a:avLst/>
          </a:prstGeom>
          <a:noFill/>
          <a:ln/>
        </p:spPr>
        <p:txBody>
          <a:bodyPr wrap="square" lIns="0" tIns="0" rIns="0" bIns="0" rtlCol="0" anchor="t"/>
          <a:lstStyle/>
          <a:p>
            <a:pPr indent="0" marL="0">
              <a:buNone/>
            </a:pPr>
            <a:r>
              <a:rPr lang="en-US" sz="1150" b="1" dirty="0">
                <a:solidFill>
                  <a:srgbClr val="0F2A4A"/>
                </a:solidFill>
                <a:latin typeface="Courier New" pitchFamily="34" charset="0"/>
                <a:ea typeface="Courier New" pitchFamily="34" charset="-122"/>
                <a:cs typeface="Courier New" pitchFamily="34" charset="-120"/>
              </a:rPr>
              <a:t>log.txt</a:t>
            </a:r>
            <a:endParaRPr lang="en-US" sz="1150" dirty="0"/>
          </a:p>
        </p:txBody>
      </p:sp>
      <p:sp>
        <p:nvSpPr>
          <p:cNvPr id="17" name="Text 11"/>
          <p:cNvSpPr txBox="1"/>
          <p:nvPr/>
        </p:nvSpPr>
        <p:spPr>
          <a:xfrm>
            <a:off x="1234440" y="3090672"/>
            <a:ext cx="2926080" cy="228600"/>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one line per event, each chained to the previous</a:t>
            </a:r>
            <a:endParaRPr lang="en-US" sz="1000" dirty="0"/>
          </a:p>
        </p:txBody>
      </p:sp>
      <p:pic>
        <p:nvPicPr>
          <p:cNvPr id="18" name="Image 4" descr="/Users/pawank/DiskAlpha/Development/exameye/docs/deck/img/icons/doc-navy.png">    </p:cNvPr>
          <p:cNvPicPr>
            <a:picLocks noChangeAspect="1"/>
          </p:cNvPicPr>
          <p:nvPr/>
        </p:nvPicPr>
        <p:blipFill>
          <a:blip r:embed="rId5"/>
          <a:stretch>
            <a:fillRect/>
          </a:stretch>
        </p:blipFill>
        <p:spPr>
          <a:xfrm>
            <a:off x="868680" y="3355848"/>
            <a:ext cx="274320" cy="274320"/>
          </a:xfrm>
          <a:prstGeom prst="rect">
            <a:avLst/>
          </a:prstGeom>
        </p:spPr>
      </p:pic>
      <p:sp>
        <p:nvSpPr>
          <p:cNvPr id="19" name="Text 12"/>
          <p:cNvSpPr txBox="1"/>
          <p:nvPr/>
        </p:nvSpPr>
        <p:spPr>
          <a:xfrm>
            <a:off x="1234440" y="3337560"/>
            <a:ext cx="2926080" cy="219456"/>
          </a:xfrm>
          <a:prstGeom prst="rect">
            <a:avLst/>
          </a:prstGeom>
          <a:noFill/>
          <a:ln/>
        </p:spPr>
        <p:txBody>
          <a:bodyPr wrap="square" lIns="0" tIns="0" rIns="0" bIns="0" rtlCol="0" anchor="t"/>
          <a:lstStyle/>
          <a:p>
            <a:pPr indent="0" marL="0">
              <a:buNone/>
            </a:pPr>
            <a:r>
              <a:rPr lang="en-US" sz="1150" b="1" dirty="0">
                <a:solidFill>
                  <a:srgbClr val="0F2A4A"/>
                </a:solidFill>
                <a:latin typeface="Courier New" pitchFamily="34" charset="0"/>
                <a:ea typeface="Courier New" pitchFamily="34" charset="-122"/>
                <a:cs typeface="Courier New" pitchFamily="34" charset="-120"/>
              </a:rPr>
              <a:t>events.jsonl</a:t>
            </a:r>
            <a:endParaRPr lang="en-US" sz="1150" dirty="0"/>
          </a:p>
        </p:txBody>
      </p:sp>
      <p:sp>
        <p:nvSpPr>
          <p:cNvPr id="20" name="Text 13"/>
          <p:cNvSpPr txBox="1"/>
          <p:nvPr/>
        </p:nvSpPr>
        <p:spPr>
          <a:xfrm>
            <a:off x="1234440" y="3547872"/>
            <a:ext cx="2926080" cy="228600"/>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the same events for software to read</a:t>
            </a:r>
            <a:endParaRPr lang="en-US" sz="1000" dirty="0"/>
          </a:p>
        </p:txBody>
      </p:sp>
      <p:pic>
        <p:nvPicPr>
          <p:cNvPr id="21" name="Image 5" descr="/Users/pawank/DiskAlpha/Development/exameye/docs/deck/img/icons/camera-blue.png">    </p:cNvPr>
          <p:cNvPicPr>
            <a:picLocks noChangeAspect="1"/>
          </p:cNvPicPr>
          <p:nvPr/>
        </p:nvPicPr>
        <p:blipFill>
          <a:blip r:embed="rId6"/>
          <a:stretch>
            <a:fillRect/>
          </a:stretch>
        </p:blipFill>
        <p:spPr>
          <a:xfrm>
            <a:off x="868680" y="3813048"/>
            <a:ext cx="274320" cy="274320"/>
          </a:xfrm>
          <a:prstGeom prst="rect">
            <a:avLst/>
          </a:prstGeom>
        </p:spPr>
      </p:pic>
      <p:sp>
        <p:nvSpPr>
          <p:cNvPr id="22" name="Text 14"/>
          <p:cNvSpPr txBox="1"/>
          <p:nvPr/>
        </p:nvSpPr>
        <p:spPr>
          <a:xfrm>
            <a:off x="1234440" y="3794760"/>
            <a:ext cx="2926080" cy="219456"/>
          </a:xfrm>
          <a:prstGeom prst="rect">
            <a:avLst/>
          </a:prstGeom>
          <a:noFill/>
          <a:ln/>
        </p:spPr>
        <p:txBody>
          <a:bodyPr wrap="square" lIns="0" tIns="0" rIns="0" bIns="0" rtlCol="0" anchor="t"/>
          <a:lstStyle/>
          <a:p>
            <a:pPr indent="0" marL="0">
              <a:buNone/>
            </a:pPr>
            <a:r>
              <a:rPr lang="en-US" sz="1150" b="1" dirty="0">
                <a:solidFill>
                  <a:srgbClr val="0F2A4A"/>
                </a:solidFill>
                <a:latin typeface="Courier New" pitchFamily="34" charset="0"/>
                <a:ea typeface="Courier New" pitchFamily="34" charset="-122"/>
                <a:cs typeface="Courier New" pitchFamily="34" charset="-120"/>
              </a:rPr>
              <a:t>screenshots/</a:t>
            </a:r>
            <a:endParaRPr lang="en-US" sz="1150" dirty="0"/>
          </a:p>
        </p:txBody>
      </p:sp>
      <p:sp>
        <p:nvSpPr>
          <p:cNvPr id="23" name="Text 15"/>
          <p:cNvSpPr txBox="1"/>
          <p:nvPr/>
        </p:nvSpPr>
        <p:spPr>
          <a:xfrm>
            <a:off x="1234440" y="4005072"/>
            <a:ext cx="2926080" cy="228600"/>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exam-tab pictures, named by time and event</a:t>
            </a:r>
            <a:endParaRPr lang="en-US" sz="1000" dirty="0"/>
          </a:p>
        </p:txBody>
      </p:sp>
      <p:pic>
        <p:nvPicPr>
          <p:cNvPr id="24" name="Image 6" descr="/Users/pawank/DiskAlpha/Development/exameye/docs/deck/img/icons/camera-blue.png">    </p:cNvPr>
          <p:cNvPicPr>
            <a:picLocks noChangeAspect="1"/>
          </p:cNvPicPr>
          <p:nvPr/>
        </p:nvPicPr>
        <p:blipFill>
          <a:blip r:embed="rId7"/>
          <a:stretch>
            <a:fillRect/>
          </a:stretch>
        </p:blipFill>
        <p:spPr>
          <a:xfrm>
            <a:off x="868680" y="4270248"/>
            <a:ext cx="274320" cy="274320"/>
          </a:xfrm>
          <a:prstGeom prst="rect">
            <a:avLst/>
          </a:prstGeom>
        </p:spPr>
      </p:pic>
      <p:sp>
        <p:nvSpPr>
          <p:cNvPr id="25" name="Text 16"/>
          <p:cNvSpPr txBox="1"/>
          <p:nvPr/>
        </p:nvSpPr>
        <p:spPr>
          <a:xfrm>
            <a:off x="1234440" y="4251960"/>
            <a:ext cx="2926080" cy="219456"/>
          </a:xfrm>
          <a:prstGeom prst="rect">
            <a:avLst/>
          </a:prstGeom>
          <a:noFill/>
          <a:ln/>
        </p:spPr>
        <p:txBody>
          <a:bodyPr wrap="square" lIns="0" tIns="0" rIns="0" bIns="0" rtlCol="0" anchor="t"/>
          <a:lstStyle/>
          <a:p>
            <a:pPr indent="0" marL="0">
              <a:buNone/>
            </a:pPr>
            <a:r>
              <a:rPr lang="en-US" sz="1150" b="1" dirty="0">
                <a:solidFill>
                  <a:srgbClr val="0F2A4A"/>
                </a:solidFill>
                <a:latin typeface="Courier New" pitchFamily="34" charset="0"/>
                <a:ea typeface="Courier New" pitchFamily="34" charset="-122"/>
                <a:cs typeface="Courier New" pitchFamily="34" charset="-120"/>
              </a:rPr>
              <a:t>screenshots/desktop/</a:t>
            </a:r>
            <a:endParaRPr lang="en-US" sz="1150" dirty="0"/>
          </a:p>
        </p:txBody>
      </p:sp>
      <p:sp>
        <p:nvSpPr>
          <p:cNvPr id="26" name="Text 17"/>
          <p:cNvSpPr txBox="1"/>
          <p:nvPr/>
        </p:nvSpPr>
        <p:spPr>
          <a:xfrm>
            <a:off x="1234440" y="4462272"/>
            <a:ext cx="2926080" cy="228600"/>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whole-screen pictures, when capture is on</a:t>
            </a:r>
            <a:endParaRPr lang="en-US" sz="1000" dirty="0"/>
          </a:p>
        </p:txBody>
      </p:sp>
      <p:sp>
        <p:nvSpPr>
          <p:cNvPr id="27" name="Shape 18"/>
          <p:cNvSpPr/>
          <p:nvPr/>
        </p:nvSpPr>
        <p:spPr>
          <a:xfrm>
            <a:off x="4251960" y="1371600"/>
            <a:ext cx="4434840" cy="3429000"/>
          </a:xfrm>
          <a:prstGeom prst="roundRect">
            <a:avLst>
              <a:gd name="adj" fmla="val 1600"/>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28" name="Image 7" descr="/Users/pawank/DiskAlpha/Development/exameye/docs/deck/img/summary-top.png">    </p:cNvPr>
          <p:cNvPicPr>
            <a:picLocks noChangeAspect="1"/>
          </p:cNvPicPr>
          <p:nvPr/>
        </p:nvPicPr>
        <p:blipFill>
          <a:blip r:embed="rId8"/>
          <a:srcRect l="0" r="0" t="0" b="0"/>
          <a:stretch/>
        </p:blipFill>
        <p:spPr>
          <a:xfrm>
            <a:off x="4306824" y="1426464"/>
            <a:ext cx="4325112" cy="33192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14</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Reading the report</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Top to bottom: outcome, flags, time away, then the full timeline with pictures.</a:t>
            </a:r>
            <a:endParaRPr lang="en-US" sz="1400" dirty="0"/>
          </a:p>
        </p:txBody>
      </p:sp>
      <p:sp>
        <p:nvSpPr>
          <p:cNvPr id="5" name="Shape 3"/>
          <p:cNvSpPr/>
          <p:nvPr/>
        </p:nvSpPr>
        <p:spPr>
          <a:xfrm>
            <a:off x="457200" y="1371600"/>
            <a:ext cx="3017520" cy="1828800"/>
          </a:xfrm>
          <a:prstGeom prst="roundRect">
            <a:avLst>
              <a:gd name="adj" fmla="val 3000"/>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6" name="Image 0" descr="/Users/pawank/DiskAlpha/Development/exameye/docs/deck/img/summary-top.png">    </p:cNvPr>
          <p:cNvPicPr>
            <a:picLocks noChangeAspect="1"/>
          </p:cNvPicPr>
          <p:nvPr/>
        </p:nvPicPr>
        <p:blipFill>
          <a:blip r:embed="rId1"/>
          <a:srcRect l="0" r="0" t="0" b="0"/>
          <a:stretch/>
        </p:blipFill>
        <p:spPr>
          <a:xfrm>
            <a:off x="512064" y="1426464"/>
            <a:ext cx="2907792" cy="1719072"/>
          </a:xfrm>
          <a:prstGeom prst="rect">
            <a:avLst/>
          </a:prstGeom>
        </p:spPr>
      </p:pic>
      <p:sp>
        <p:nvSpPr>
          <p:cNvPr id="7" name="Shape 4"/>
          <p:cNvSpPr/>
          <p:nvPr/>
        </p:nvSpPr>
        <p:spPr>
          <a:xfrm>
            <a:off x="457200" y="3291840"/>
            <a:ext cx="3017520" cy="1508760"/>
          </a:xfrm>
          <a:prstGeom prst="roundRect">
            <a:avLst>
              <a:gd name="adj" fmla="val 3636"/>
            </a:avLst>
          </a:prstGeom>
          <a:solidFill>
            <a:srgbClr val="FFFFFF"/>
          </a:solidFill>
          <a:ln w="9525">
            <a:solidFill>
              <a:srgbClr val="E6E4DF"/>
            </a:solidFill>
            <a:prstDash val="solid"/>
          </a:ln>
          <a:effectLst>
            <a:outerShdw sx="100000" sy="100000" kx="0" ky="0" algn="bl" rotWithShape="0" blurRad="76200" dist="25400" dir="5400000">
              <a:srgbClr val="000000">
                <a:alpha val="18000"/>
              </a:srgbClr>
            </a:outerShdw>
          </a:effectLst>
        </p:spPr>
      </p:sp>
      <p:pic>
        <p:nvPicPr>
          <p:cNvPr id="8" name="Image 1" descr="/Users/pawank/DiskAlpha/Development/exameye/docs/deck/img/summary-timeline.png">    </p:cNvPr>
          <p:cNvPicPr>
            <a:picLocks noChangeAspect="1"/>
          </p:cNvPicPr>
          <p:nvPr/>
        </p:nvPicPr>
        <p:blipFill>
          <a:blip r:embed="rId2"/>
          <a:srcRect l="0" r="0" t="0" b="0"/>
          <a:stretch/>
        </p:blipFill>
        <p:spPr>
          <a:xfrm>
            <a:off x="512064" y="3346704"/>
            <a:ext cx="2907792" cy="1399032"/>
          </a:xfrm>
          <a:prstGeom prst="rect">
            <a:avLst/>
          </a:prstGeom>
        </p:spPr>
      </p:pic>
      <p:pic>
        <p:nvPicPr>
          <p:cNvPr id="9" name="Image 2" descr="/Users/pawank/DiskAlpha/Development/exameye/docs/deck/img/icons/check-green.png">    </p:cNvPr>
          <p:cNvPicPr>
            <a:picLocks noChangeAspect="1"/>
          </p:cNvPicPr>
          <p:nvPr/>
        </p:nvPicPr>
        <p:blipFill>
          <a:blip r:embed="rId3"/>
          <a:stretch>
            <a:fillRect/>
          </a:stretch>
        </p:blipFill>
        <p:spPr>
          <a:xfrm>
            <a:off x="3749040" y="1417320"/>
            <a:ext cx="384048" cy="384048"/>
          </a:xfrm>
          <a:prstGeom prst="rect">
            <a:avLst/>
          </a:prstGeom>
        </p:spPr>
      </p:pic>
      <p:sp>
        <p:nvSpPr>
          <p:cNvPr id="10" name="Text 5"/>
          <p:cNvSpPr txBox="1"/>
          <p:nvPr/>
        </p:nvSpPr>
        <p:spPr>
          <a:xfrm>
            <a:off x="4251960" y="1417320"/>
            <a:ext cx="4434840" cy="237744"/>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Outcome and log chain</a:t>
            </a:r>
            <a:endParaRPr lang="en-US" sz="1400" dirty="0"/>
          </a:p>
        </p:txBody>
      </p:sp>
      <p:sp>
        <p:nvSpPr>
          <p:cNvPr id="11" name="Text 6"/>
          <p:cNvSpPr txBox="1"/>
          <p:nvPr/>
        </p:nvSpPr>
        <p:spPr>
          <a:xfrm>
            <a:off x="4251960" y="1655064"/>
            <a:ext cx="443484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RESULT / SUBMITTED / TIMED OUT / ABANDONED. "Log chain OK" means no line of the log was altered afterwards.</a:t>
            </a:r>
            <a:endParaRPr lang="en-US" sz="1150" dirty="0"/>
          </a:p>
        </p:txBody>
      </p:sp>
      <p:pic>
        <p:nvPicPr>
          <p:cNvPr id="12" name="Image 3" descr="/Users/pawank/DiskAlpha/Development/exameye/docs/deck/img/icons/flag-red.png">    </p:cNvPr>
          <p:cNvPicPr>
            <a:picLocks noChangeAspect="1"/>
          </p:cNvPicPr>
          <p:nvPr/>
        </p:nvPicPr>
        <p:blipFill>
          <a:blip r:embed="rId4"/>
          <a:stretch>
            <a:fillRect/>
          </a:stretch>
        </p:blipFill>
        <p:spPr>
          <a:xfrm>
            <a:off x="3749040" y="2093976"/>
            <a:ext cx="384048" cy="384048"/>
          </a:xfrm>
          <a:prstGeom prst="rect">
            <a:avLst/>
          </a:prstGeom>
        </p:spPr>
      </p:pic>
      <p:sp>
        <p:nvSpPr>
          <p:cNvPr id="13" name="Text 7"/>
          <p:cNvSpPr txBox="1"/>
          <p:nvPr/>
        </p:nvSpPr>
        <p:spPr>
          <a:xfrm>
            <a:off x="4251960" y="2093976"/>
            <a:ext cx="4434840" cy="237744"/>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Flags</a:t>
            </a:r>
            <a:endParaRPr lang="en-US" sz="1400" dirty="0"/>
          </a:p>
        </p:txBody>
      </p:sp>
      <p:sp>
        <p:nvSpPr>
          <p:cNvPr id="14" name="Text 8"/>
          <p:cNvSpPr txBox="1"/>
          <p:nvPr/>
        </p:nvSpPr>
        <p:spPr>
          <a:xfrm>
            <a:off x="4251960" y="2331720"/>
            <a:ext cx="443484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Each flagged event type with its count and a colour: red critical, orange serious, yellow warning.</a:t>
            </a:r>
            <a:endParaRPr lang="en-US" sz="1150" dirty="0"/>
          </a:p>
        </p:txBody>
      </p:sp>
      <p:pic>
        <p:nvPicPr>
          <p:cNvPr id="15" name="Image 4" descr="/Users/pawank/DiskAlpha/Development/exameye/docs/deck/img/icons/clock-blue.png">    </p:cNvPr>
          <p:cNvPicPr>
            <a:picLocks noChangeAspect="1"/>
          </p:cNvPicPr>
          <p:nvPr/>
        </p:nvPicPr>
        <p:blipFill>
          <a:blip r:embed="rId5"/>
          <a:stretch>
            <a:fillRect/>
          </a:stretch>
        </p:blipFill>
        <p:spPr>
          <a:xfrm>
            <a:off x="3749040" y="2770632"/>
            <a:ext cx="384048" cy="384048"/>
          </a:xfrm>
          <a:prstGeom prst="rect">
            <a:avLst/>
          </a:prstGeom>
        </p:spPr>
      </p:pic>
      <p:sp>
        <p:nvSpPr>
          <p:cNvPr id="16" name="Text 9"/>
          <p:cNvSpPr txBox="1"/>
          <p:nvPr/>
        </p:nvSpPr>
        <p:spPr>
          <a:xfrm>
            <a:off x="4251960" y="2770632"/>
            <a:ext cx="4434840" cy="237744"/>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Time away</a:t>
            </a:r>
            <a:endParaRPr lang="en-US" sz="1400" dirty="0"/>
          </a:p>
        </p:txBody>
      </p:sp>
      <p:sp>
        <p:nvSpPr>
          <p:cNvPr id="17" name="Text 10"/>
          <p:cNvSpPr txBox="1"/>
          <p:nvPr/>
        </p:nvSpPr>
        <p:spPr>
          <a:xfrm>
            <a:off x="4251960" y="3008376"/>
            <a:ext cx="443484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How long the exam tab was not in front, Chrome was not the active app, the window was minimised, the screen was locked.</a:t>
            </a:r>
            <a:endParaRPr lang="en-US" sz="1150" dirty="0"/>
          </a:p>
        </p:txBody>
      </p:sp>
      <p:pic>
        <p:nvPicPr>
          <p:cNvPr id="18" name="Image 5" descr="/Users/pawank/DiskAlpha/Development/exameye/docs/deck/img/icons/tabs-blue.png">    </p:cNvPr>
          <p:cNvPicPr>
            <a:picLocks noChangeAspect="1"/>
          </p:cNvPicPr>
          <p:nvPr/>
        </p:nvPicPr>
        <p:blipFill>
          <a:blip r:embed="rId6"/>
          <a:stretch>
            <a:fillRect/>
          </a:stretch>
        </p:blipFill>
        <p:spPr>
          <a:xfrm>
            <a:off x="3749040" y="3447288"/>
            <a:ext cx="384048" cy="384048"/>
          </a:xfrm>
          <a:prstGeom prst="rect">
            <a:avLst/>
          </a:prstGeom>
        </p:spPr>
      </p:pic>
      <p:sp>
        <p:nvSpPr>
          <p:cNvPr id="19" name="Text 11"/>
          <p:cNvSpPr txBox="1"/>
          <p:nvPr/>
        </p:nvSpPr>
        <p:spPr>
          <a:xfrm>
            <a:off x="4251960" y="3447288"/>
            <a:ext cx="4434840" cy="237744"/>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Parallel pages</a:t>
            </a:r>
            <a:endParaRPr lang="en-US" sz="1400" dirty="0"/>
          </a:p>
        </p:txBody>
      </p:sp>
      <p:sp>
        <p:nvSpPr>
          <p:cNvPr id="20" name="Text 12"/>
          <p:cNvSpPr txBox="1"/>
          <p:nvPr/>
        </p:nvSpPr>
        <p:spPr>
          <a:xfrm>
            <a:off x="4251960" y="3685032"/>
            <a:ext cx="443484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Every other page visited during the paper, with focused time and visits.</a:t>
            </a:r>
            <a:endParaRPr lang="en-US" sz="1150" dirty="0"/>
          </a:p>
        </p:txBody>
      </p:sp>
      <p:pic>
        <p:nvPicPr>
          <p:cNvPr id="21" name="Image 6" descr="/Users/pawank/DiskAlpha/Development/exameye/docs/deck/img/icons/camera-blue.png">    </p:cNvPr>
          <p:cNvPicPr>
            <a:picLocks noChangeAspect="1"/>
          </p:cNvPicPr>
          <p:nvPr/>
        </p:nvPicPr>
        <p:blipFill>
          <a:blip r:embed="rId7"/>
          <a:stretch>
            <a:fillRect/>
          </a:stretch>
        </p:blipFill>
        <p:spPr>
          <a:xfrm>
            <a:off x="3749040" y="4123944"/>
            <a:ext cx="384048" cy="384048"/>
          </a:xfrm>
          <a:prstGeom prst="rect">
            <a:avLst/>
          </a:prstGeom>
        </p:spPr>
      </p:pic>
      <p:sp>
        <p:nvSpPr>
          <p:cNvPr id="22" name="Text 13"/>
          <p:cNvSpPr txBox="1"/>
          <p:nvPr/>
        </p:nvSpPr>
        <p:spPr>
          <a:xfrm>
            <a:off x="4251960" y="4123944"/>
            <a:ext cx="4434840" cy="237744"/>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Timeline and screenshots</a:t>
            </a:r>
            <a:endParaRPr lang="en-US" sz="1400" dirty="0"/>
          </a:p>
        </p:txBody>
      </p:sp>
      <p:sp>
        <p:nvSpPr>
          <p:cNvPr id="23" name="Text 14"/>
          <p:cNvSpPr txBox="1"/>
          <p:nvPr/>
        </p:nvSpPr>
        <p:spPr>
          <a:xfrm>
            <a:off x="4251960" y="4361688"/>
            <a:ext cx="443484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Every event in order; "tab" and "desktop" links open the picture taken at that moment.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15</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Flags and what they mean</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The same list drives the red badge, the popup and the report.</a:t>
            </a:r>
            <a:endParaRPr lang="en-US" sz="1400" dirty="0"/>
          </a:p>
        </p:txBody>
      </p:sp>
      <p:sp>
        <p:nvSpPr>
          <p:cNvPr id="5" name="Shape 3"/>
          <p:cNvSpPr/>
          <p:nvPr/>
        </p:nvSpPr>
        <p:spPr>
          <a:xfrm>
            <a:off x="457200" y="1371600"/>
            <a:ext cx="2651760" cy="384048"/>
          </a:xfrm>
          <a:prstGeom prst="roundRect">
            <a:avLst>
              <a:gd name="adj" fmla="val 14286"/>
            </a:avLst>
          </a:prstGeom>
          <a:solidFill>
            <a:srgbClr val="D03B3B"/>
          </a:solidFill>
          <a:ln w="12700">
            <a:solidFill>
              <a:srgbClr val="D03B3B"/>
            </a:solidFill>
            <a:prstDash val="solid"/>
          </a:ln>
        </p:spPr>
      </p:sp>
      <p:sp>
        <p:nvSpPr>
          <p:cNvPr id="6" name="Text 4"/>
          <p:cNvSpPr txBox="1"/>
          <p:nvPr/>
        </p:nvSpPr>
        <p:spPr>
          <a:xfrm>
            <a:off x="594360" y="1371600"/>
            <a:ext cx="237744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Critical</a:t>
            </a:r>
            <a:endParaRPr lang="en-US" sz="1400" dirty="0"/>
          </a:p>
        </p:txBody>
      </p:sp>
      <p:sp>
        <p:nvSpPr>
          <p:cNvPr id="7" name="Text 5"/>
          <p:cNvSpPr txBox="1"/>
          <p:nvPr/>
        </p:nvSpPr>
        <p:spPr>
          <a:xfrm>
            <a:off x="548640" y="1874520"/>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Parallel pages</a:t>
            </a:r>
            <a:endParaRPr lang="en-US" sz="1150" dirty="0"/>
          </a:p>
        </p:txBody>
      </p:sp>
      <p:sp>
        <p:nvSpPr>
          <p:cNvPr id="8" name="Text 6"/>
          <p:cNvSpPr txBox="1"/>
          <p:nvPr/>
        </p:nvSpPr>
        <p:spPr>
          <a:xfrm>
            <a:off x="548640" y="2084832"/>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another web page was used</a:t>
            </a:r>
            <a:endParaRPr lang="en-US" sz="1000" dirty="0"/>
          </a:p>
        </p:txBody>
      </p:sp>
      <p:sp>
        <p:nvSpPr>
          <p:cNvPr id="9" name="Text 7"/>
          <p:cNvSpPr txBox="1"/>
          <p:nvPr/>
        </p:nvSpPr>
        <p:spPr>
          <a:xfrm>
            <a:off x="548640" y="2359152"/>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Incognito windows</a:t>
            </a:r>
            <a:endParaRPr lang="en-US" sz="1150" dirty="0"/>
          </a:p>
        </p:txBody>
      </p:sp>
      <p:sp>
        <p:nvSpPr>
          <p:cNvPr id="10" name="Text 8"/>
          <p:cNvSpPr txBox="1"/>
          <p:nvPr/>
        </p:nvSpPr>
        <p:spPr>
          <a:xfrm>
            <a:off x="548640" y="2569464"/>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a private window was opened</a:t>
            </a:r>
            <a:endParaRPr lang="en-US" sz="1000" dirty="0"/>
          </a:p>
        </p:txBody>
      </p:sp>
      <p:sp>
        <p:nvSpPr>
          <p:cNvPr id="11" name="Text 9"/>
          <p:cNvSpPr txBox="1"/>
          <p:nvPr/>
        </p:nvSpPr>
        <p:spPr>
          <a:xfrm>
            <a:off x="548640" y="2843784"/>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DevTools</a:t>
            </a:r>
            <a:endParaRPr lang="en-US" sz="1150" dirty="0"/>
          </a:p>
        </p:txBody>
      </p:sp>
      <p:sp>
        <p:nvSpPr>
          <p:cNvPr id="12" name="Text 10"/>
          <p:cNvSpPr txBox="1"/>
          <p:nvPr/>
        </p:nvSpPr>
        <p:spPr>
          <a:xfrm>
            <a:off x="548640" y="3054096"/>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the browser inspector was opened</a:t>
            </a:r>
            <a:endParaRPr lang="en-US" sz="1000" dirty="0"/>
          </a:p>
        </p:txBody>
      </p:sp>
      <p:sp>
        <p:nvSpPr>
          <p:cNvPr id="13" name="Text 11"/>
          <p:cNvSpPr txBox="1"/>
          <p:nvPr/>
        </p:nvSpPr>
        <p:spPr>
          <a:xfrm>
            <a:off x="548640" y="3328416"/>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Config changed</a:t>
            </a:r>
            <a:endParaRPr lang="en-US" sz="1150" dirty="0"/>
          </a:p>
        </p:txBody>
      </p:sp>
      <p:sp>
        <p:nvSpPr>
          <p:cNvPr id="14" name="Text 12"/>
          <p:cNvSpPr txBox="1"/>
          <p:nvPr/>
        </p:nvSpPr>
        <p:spPr>
          <a:xfrm>
            <a:off x="548640" y="3538728"/>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ExamEye settings were changed mid-paper</a:t>
            </a:r>
            <a:endParaRPr lang="en-US" sz="1000" dirty="0"/>
          </a:p>
        </p:txBody>
      </p:sp>
      <p:sp>
        <p:nvSpPr>
          <p:cNvPr id="15" name="Text 13"/>
          <p:cNvSpPr txBox="1"/>
          <p:nvPr/>
        </p:nvSpPr>
        <p:spPr>
          <a:xfrm>
            <a:off x="548640" y="3813048"/>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Clock set back</a:t>
            </a:r>
            <a:endParaRPr lang="en-US" sz="1150" dirty="0"/>
          </a:p>
        </p:txBody>
      </p:sp>
      <p:sp>
        <p:nvSpPr>
          <p:cNvPr id="16" name="Text 14"/>
          <p:cNvSpPr txBox="1"/>
          <p:nvPr/>
        </p:nvSpPr>
        <p:spPr>
          <a:xfrm>
            <a:off x="548640" y="4023360"/>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the computer clock jumped backwards</a:t>
            </a:r>
            <a:endParaRPr lang="en-US" sz="1000" dirty="0"/>
          </a:p>
        </p:txBody>
      </p:sp>
      <p:sp>
        <p:nvSpPr>
          <p:cNvPr id="17" name="Shape 15"/>
          <p:cNvSpPr/>
          <p:nvPr/>
        </p:nvSpPr>
        <p:spPr>
          <a:xfrm>
            <a:off x="3246120" y="1371600"/>
            <a:ext cx="2651760" cy="384048"/>
          </a:xfrm>
          <a:prstGeom prst="roundRect">
            <a:avLst>
              <a:gd name="adj" fmla="val 14286"/>
            </a:avLst>
          </a:prstGeom>
          <a:solidFill>
            <a:srgbClr val="EC835A"/>
          </a:solidFill>
          <a:ln w="12700">
            <a:solidFill>
              <a:srgbClr val="EC835A"/>
            </a:solidFill>
            <a:prstDash val="solid"/>
          </a:ln>
        </p:spPr>
      </p:sp>
      <p:sp>
        <p:nvSpPr>
          <p:cNvPr id="18" name="Text 16"/>
          <p:cNvSpPr txBox="1"/>
          <p:nvPr/>
        </p:nvSpPr>
        <p:spPr>
          <a:xfrm>
            <a:off x="3383280" y="1371600"/>
            <a:ext cx="2377440" cy="384048"/>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Serious</a:t>
            </a:r>
            <a:endParaRPr lang="en-US" sz="1400" dirty="0"/>
          </a:p>
        </p:txBody>
      </p:sp>
      <p:sp>
        <p:nvSpPr>
          <p:cNvPr id="19" name="Text 17"/>
          <p:cNvSpPr txBox="1"/>
          <p:nvPr/>
        </p:nvSpPr>
        <p:spPr>
          <a:xfrm>
            <a:off x="3337560" y="1874520"/>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Copy / Cut / Paste</a:t>
            </a:r>
            <a:endParaRPr lang="en-US" sz="1150" dirty="0"/>
          </a:p>
        </p:txBody>
      </p:sp>
      <p:sp>
        <p:nvSpPr>
          <p:cNvPr id="20" name="Text 18"/>
          <p:cNvSpPr txBox="1"/>
          <p:nvPr/>
        </p:nvSpPr>
        <p:spPr>
          <a:xfrm>
            <a:off x="3337560" y="2084832"/>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clipboard use on the exam page</a:t>
            </a:r>
            <a:endParaRPr lang="en-US" sz="1000" dirty="0"/>
          </a:p>
        </p:txBody>
      </p:sp>
      <p:sp>
        <p:nvSpPr>
          <p:cNvPr id="21" name="Text 19"/>
          <p:cNvSpPr txBox="1"/>
          <p:nvPr/>
        </p:nvSpPr>
        <p:spPr>
          <a:xfrm>
            <a:off x="3337560" y="2359152"/>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Print</a:t>
            </a:r>
            <a:endParaRPr lang="en-US" sz="1150" dirty="0"/>
          </a:p>
        </p:txBody>
      </p:sp>
      <p:sp>
        <p:nvSpPr>
          <p:cNvPr id="22" name="Text 20"/>
          <p:cNvSpPr txBox="1"/>
          <p:nvPr/>
        </p:nvSpPr>
        <p:spPr>
          <a:xfrm>
            <a:off x="3337560" y="2569464"/>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the print dialog was opened</a:t>
            </a:r>
            <a:endParaRPr lang="en-US" sz="1000" dirty="0"/>
          </a:p>
        </p:txBody>
      </p:sp>
      <p:sp>
        <p:nvSpPr>
          <p:cNvPr id="23" name="Text 21"/>
          <p:cNvSpPr txBox="1"/>
          <p:nvPr/>
        </p:nvSpPr>
        <p:spPr>
          <a:xfrm>
            <a:off x="3337560" y="2843784"/>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Drag out</a:t>
            </a:r>
            <a:endParaRPr lang="en-US" sz="1150" dirty="0"/>
          </a:p>
        </p:txBody>
      </p:sp>
      <p:sp>
        <p:nvSpPr>
          <p:cNvPr id="24" name="Text 22"/>
          <p:cNvSpPr txBox="1"/>
          <p:nvPr/>
        </p:nvSpPr>
        <p:spPr>
          <a:xfrm>
            <a:off x="3337560" y="3054096"/>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content dragged out of the exam page</a:t>
            </a:r>
            <a:endParaRPr lang="en-US" sz="1000" dirty="0"/>
          </a:p>
        </p:txBody>
      </p:sp>
      <p:sp>
        <p:nvSpPr>
          <p:cNvPr id="25" name="Text 23"/>
          <p:cNvSpPr txBox="1"/>
          <p:nvPr/>
        </p:nvSpPr>
        <p:spPr>
          <a:xfrm>
            <a:off x="3337560" y="3328416"/>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Downloads</a:t>
            </a:r>
            <a:endParaRPr lang="en-US" sz="1150" dirty="0"/>
          </a:p>
        </p:txBody>
      </p:sp>
      <p:sp>
        <p:nvSpPr>
          <p:cNvPr id="26" name="Text 24"/>
          <p:cNvSpPr txBox="1"/>
          <p:nvPr/>
        </p:nvSpPr>
        <p:spPr>
          <a:xfrm>
            <a:off x="3337560" y="3538728"/>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a file was downloaded</a:t>
            </a:r>
            <a:endParaRPr lang="en-US" sz="1000" dirty="0"/>
          </a:p>
        </p:txBody>
      </p:sp>
      <p:sp>
        <p:nvSpPr>
          <p:cNvPr id="27" name="Text 25"/>
          <p:cNvSpPr txBox="1"/>
          <p:nvPr/>
        </p:nvSpPr>
        <p:spPr>
          <a:xfrm>
            <a:off x="3337560" y="3813048"/>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Recording gaps</a:t>
            </a:r>
            <a:endParaRPr lang="en-US" sz="1150" dirty="0"/>
          </a:p>
        </p:txBody>
      </p:sp>
      <p:sp>
        <p:nvSpPr>
          <p:cNvPr id="28" name="Text 26"/>
          <p:cNvSpPr txBox="1"/>
          <p:nvPr/>
        </p:nvSpPr>
        <p:spPr>
          <a:xfrm>
            <a:off x="3337560" y="4023360"/>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ExamEye was not running for a while</a:t>
            </a:r>
            <a:endParaRPr lang="en-US" sz="1000" dirty="0"/>
          </a:p>
        </p:txBody>
      </p:sp>
      <p:sp>
        <p:nvSpPr>
          <p:cNvPr id="29" name="Shape 27"/>
          <p:cNvSpPr/>
          <p:nvPr/>
        </p:nvSpPr>
        <p:spPr>
          <a:xfrm>
            <a:off x="6035040" y="1371600"/>
            <a:ext cx="2651760" cy="384048"/>
          </a:xfrm>
          <a:prstGeom prst="roundRect">
            <a:avLst>
              <a:gd name="adj" fmla="val 14286"/>
            </a:avLst>
          </a:prstGeom>
          <a:solidFill>
            <a:srgbClr val="FAB219"/>
          </a:solidFill>
          <a:ln w="12700">
            <a:solidFill>
              <a:srgbClr val="FAB219"/>
            </a:solidFill>
            <a:prstDash val="solid"/>
          </a:ln>
        </p:spPr>
      </p:sp>
      <p:sp>
        <p:nvSpPr>
          <p:cNvPr id="30" name="Text 28"/>
          <p:cNvSpPr txBox="1"/>
          <p:nvPr/>
        </p:nvSpPr>
        <p:spPr>
          <a:xfrm>
            <a:off x="6172200" y="1371600"/>
            <a:ext cx="2377440" cy="384048"/>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Warning</a:t>
            </a:r>
            <a:endParaRPr lang="en-US" sz="1400" dirty="0"/>
          </a:p>
        </p:txBody>
      </p:sp>
      <p:sp>
        <p:nvSpPr>
          <p:cNvPr id="31" name="Text 29"/>
          <p:cNvSpPr txBox="1"/>
          <p:nvPr/>
        </p:nvSpPr>
        <p:spPr>
          <a:xfrm>
            <a:off x="6126480" y="1874520"/>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Tab switches</a:t>
            </a:r>
            <a:endParaRPr lang="en-US" sz="1150" dirty="0"/>
          </a:p>
        </p:txBody>
      </p:sp>
      <p:sp>
        <p:nvSpPr>
          <p:cNvPr id="32" name="Text 30"/>
          <p:cNvSpPr txBox="1"/>
          <p:nvPr/>
        </p:nvSpPr>
        <p:spPr>
          <a:xfrm>
            <a:off x="6126480" y="2084832"/>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another tab came in front</a:t>
            </a:r>
            <a:endParaRPr lang="en-US" sz="1000" dirty="0"/>
          </a:p>
        </p:txBody>
      </p:sp>
      <p:sp>
        <p:nvSpPr>
          <p:cNvPr id="33" name="Text 31"/>
          <p:cNvSpPr txBox="1"/>
          <p:nvPr/>
        </p:nvSpPr>
        <p:spPr>
          <a:xfrm>
            <a:off x="6126480" y="2359152"/>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Left Chrome</a:t>
            </a:r>
            <a:endParaRPr lang="en-US" sz="1150" dirty="0"/>
          </a:p>
        </p:txBody>
      </p:sp>
      <p:sp>
        <p:nvSpPr>
          <p:cNvPr id="34" name="Text 32"/>
          <p:cNvSpPr txBox="1"/>
          <p:nvPr/>
        </p:nvSpPr>
        <p:spPr>
          <a:xfrm>
            <a:off x="6126480" y="2569464"/>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another application came in front</a:t>
            </a:r>
            <a:endParaRPr lang="en-US" sz="1000" dirty="0"/>
          </a:p>
        </p:txBody>
      </p:sp>
      <p:sp>
        <p:nvSpPr>
          <p:cNvPr id="35" name="Text 33"/>
          <p:cNvSpPr txBox="1"/>
          <p:nvPr/>
        </p:nvSpPr>
        <p:spPr>
          <a:xfrm>
            <a:off x="6126480" y="2843784"/>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Window minimised</a:t>
            </a:r>
            <a:endParaRPr lang="en-US" sz="1150" dirty="0"/>
          </a:p>
        </p:txBody>
      </p:sp>
      <p:sp>
        <p:nvSpPr>
          <p:cNvPr id="36" name="Text 34"/>
          <p:cNvSpPr txBox="1"/>
          <p:nvPr/>
        </p:nvSpPr>
        <p:spPr>
          <a:xfrm>
            <a:off x="6126480" y="3054096"/>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the exam window was minimised</a:t>
            </a:r>
            <a:endParaRPr lang="en-US" sz="1000" dirty="0"/>
          </a:p>
        </p:txBody>
      </p:sp>
      <p:sp>
        <p:nvSpPr>
          <p:cNvPr id="37" name="Text 35"/>
          <p:cNvSpPr txBox="1"/>
          <p:nvPr/>
        </p:nvSpPr>
        <p:spPr>
          <a:xfrm>
            <a:off x="6126480" y="3328416"/>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Fullscreen exits</a:t>
            </a:r>
            <a:endParaRPr lang="en-US" sz="1150" dirty="0"/>
          </a:p>
        </p:txBody>
      </p:sp>
      <p:sp>
        <p:nvSpPr>
          <p:cNvPr id="38" name="Text 36"/>
          <p:cNvSpPr txBox="1"/>
          <p:nvPr/>
        </p:nvSpPr>
        <p:spPr>
          <a:xfrm>
            <a:off x="6126480" y="3538728"/>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the paper left full-screen mode</a:t>
            </a:r>
            <a:endParaRPr lang="en-US" sz="1000" dirty="0"/>
          </a:p>
        </p:txBody>
      </p:sp>
      <p:sp>
        <p:nvSpPr>
          <p:cNvPr id="39" name="Text 37"/>
          <p:cNvSpPr txBox="1"/>
          <p:nvPr/>
        </p:nvSpPr>
        <p:spPr>
          <a:xfrm>
            <a:off x="6126480" y="3813048"/>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Screensaver / lock</a:t>
            </a:r>
            <a:endParaRPr lang="en-US" sz="1150" dirty="0"/>
          </a:p>
        </p:txBody>
      </p:sp>
      <p:sp>
        <p:nvSpPr>
          <p:cNvPr id="40" name="Text 38"/>
          <p:cNvSpPr txBox="1"/>
          <p:nvPr/>
        </p:nvSpPr>
        <p:spPr>
          <a:xfrm>
            <a:off x="6126480" y="4023360"/>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the screen locked or the screensaver ran</a:t>
            </a:r>
            <a:endParaRPr lang="en-US" sz="1000" dirty="0"/>
          </a:p>
        </p:txBody>
      </p:sp>
      <p:sp>
        <p:nvSpPr>
          <p:cNvPr id="41" name="Text 39"/>
          <p:cNvSpPr txBox="1"/>
          <p:nvPr/>
        </p:nvSpPr>
        <p:spPr>
          <a:xfrm>
            <a:off x="6126480" y="4297680"/>
            <a:ext cx="2468880" cy="219456"/>
          </a:xfrm>
          <a:prstGeom prst="rect">
            <a:avLst/>
          </a:prstGeom>
          <a:noFill/>
          <a:ln/>
        </p:spPr>
        <p:txBody>
          <a:bodyPr wrap="square" lIns="0" tIns="0" rIns="0" bIns="0" rtlCol="0" anchor="t"/>
          <a:lstStyle/>
          <a:p>
            <a:pPr indent="0" marL="0">
              <a:buNone/>
            </a:pPr>
            <a:r>
              <a:rPr lang="en-US" sz="1150" b="1" dirty="0">
                <a:solidFill>
                  <a:srgbClr val="0F2A4A"/>
                </a:solidFill>
                <a:latin typeface="Calibri" pitchFamily="34" charset="0"/>
                <a:ea typeface="Calibri" pitchFamily="34" charset="-122"/>
                <a:cs typeface="Calibri" pitchFamily="34" charset="-120"/>
              </a:rPr>
              <a:t>Multiple screens</a:t>
            </a:r>
            <a:endParaRPr lang="en-US" sz="1150" dirty="0"/>
          </a:p>
        </p:txBody>
      </p:sp>
      <p:sp>
        <p:nvSpPr>
          <p:cNvPr id="42" name="Text 40"/>
          <p:cNvSpPr txBox="1"/>
          <p:nvPr/>
        </p:nvSpPr>
        <p:spPr>
          <a:xfrm>
            <a:off x="6126480" y="4507992"/>
            <a:ext cx="2468880" cy="25603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more than one monitor was attached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16</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Can the record be trusted?</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Every log line carries a fingerprint of the line before it. Change one, and everything after it breaks.</a:t>
            </a:r>
            <a:endParaRPr lang="en-US" sz="1400" dirty="0"/>
          </a:p>
        </p:txBody>
      </p:sp>
      <p:sp>
        <p:nvSpPr>
          <p:cNvPr id="5" name="Shape 3"/>
          <p:cNvSpPr/>
          <p:nvPr/>
        </p:nvSpPr>
        <p:spPr>
          <a:xfrm>
            <a:off x="457200" y="1417320"/>
            <a:ext cx="4023360" cy="3291840"/>
          </a:xfrm>
          <a:prstGeom prst="roundRect">
            <a:avLst>
              <a:gd name="adj" fmla="val 2222"/>
            </a:avLst>
          </a:prstGeom>
          <a:solidFill>
            <a:srgbClr val="EEF3FB"/>
          </a:solidFill>
          <a:ln w="9525">
            <a:solidFill>
              <a:srgbClr val="E6E4DF"/>
            </a:solidFill>
            <a:prstDash val="solid"/>
          </a:ln>
        </p:spPr>
      </p:sp>
      <p:pic>
        <p:nvPicPr>
          <p:cNvPr id="6" name="Image 0" descr="/Users/pawank/DiskAlpha/Development/exameye/docs/deck/img/icons/shield-navy.png">    </p:cNvPr>
          <p:cNvPicPr>
            <a:picLocks noChangeAspect="1"/>
          </p:cNvPicPr>
          <p:nvPr/>
        </p:nvPicPr>
        <p:blipFill>
          <a:blip r:embed="rId1"/>
          <a:stretch>
            <a:fillRect/>
          </a:stretch>
        </p:blipFill>
        <p:spPr>
          <a:xfrm>
            <a:off x="640080" y="1600200"/>
            <a:ext cx="457200" cy="457200"/>
          </a:xfrm>
          <a:prstGeom prst="rect">
            <a:avLst/>
          </a:prstGeom>
        </p:spPr>
      </p:pic>
      <p:sp>
        <p:nvSpPr>
          <p:cNvPr id="7" name="Text 4"/>
          <p:cNvSpPr txBox="1"/>
          <p:nvPr/>
        </p:nvSpPr>
        <p:spPr>
          <a:xfrm>
            <a:off x="1234440" y="1664208"/>
            <a:ext cx="3108960" cy="365760"/>
          </a:xfrm>
          <a:prstGeom prst="rect">
            <a:avLst/>
          </a:prstGeom>
          <a:noFill/>
          <a:ln/>
        </p:spPr>
        <p:txBody>
          <a:bodyPr wrap="square" lIns="0" tIns="0" rIns="0" bIns="0" rtlCol="0" anchor="t"/>
          <a:lstStyle/>
          <a:p>
            <a:pPr indent="0" marL="0">
              <a:buNone/>
            </a:pPr>
            <a:r>
              <a:rPr lang="en-US" sz="1600" b="1" dirty="0">
                <a:solidFill>
                  <a:srgbClr val="0F2A4A"/>
                </a:solidFill>
                <a:latin typeface="Calibri" pitchFamily="34" charset="0"/>
                <a:ea typeface="Calibri" pitchFamily="34" charset="-122"/>
                <a:cs typeface="Calibri" pitchFamily="34" charset="-120"/>
              </a:rPr>
              <a:t>What the chain proves</a:t>
            </a:r>
            <a:endParaRPr lang="en-US" sz="1600" dirty="0"/>
          </a:p>
        </p:txBody>
      </p:sp>
      <p:sp>
        <p:nvSpPr>
          <p:cNvPr id="8" name="Text 5"/>
          <p:cNvSpPr txBox="1"/>
          <p:nvPr/>
        </p:nvSpPr>
        <p:spPr>
          <a:xfrm>
            <a:off x="640080" y="2194560"/>
            <a:ext cx="3657600" cy="24688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0B0B0B"/>
                </a:solidFill>
                <a:latin typeface="Calibri" pitchFamily="34" charset="0"/>
                <a:ea typeface="Calibri" pitchFamily="34" charset="-122"/>
                <a:cs typeface="Calibri" pitchFamily="34" charset="-120"/>
              </a:rPr>
              <a:t>The report’s "Log chain OK" badge shows the log is intact from the first line to the last.</a:t>
            </a:r>
            <a:endParaRPr lang="en-US" sz="1200" dirty="0"/>
          </a:p>
          <a:p>
            <a:pPr marL="177800" indent="-177800">
              <a:spcAft>
                <a:spcPts val="600"/>
              </a:spcAft>
              <a:buSzPct val="100000"/>
              <a:buChar char="•"/>
            </a:pPr>
            <a:r>
              <a:rPr lang="en-US" sz="1200" dirty="0">
                <a:solidFill>
                  <a:srgbClr val="0B0B0B"/>
                </a:solidFill>
                <a:latin typeface="Calibri" pitchFamily="34" charset="0"/>
                <a:ea typeface="Calibri" pitchFamily="34" charset="-122"/>
                <a:cs typeface="Calibri" pitchFamily="34" charset="-120"/>
              </a:rPr>
              <a:t>A gap where ExamEye was switched off shows up as a Recording gap flag with its length.</a:t>
            </a:r>
            <a:endParaRPr lang="en-US" sz="1200" dirty="0"/>
          </a:p>
          <a:p>
            <a:pPr marL="177800" indent="-177800">
              <a:spcAft>
                <a:spcPts val="600"/>
              </a:spcAft>
              <a:buSzPct val="100000"/>
              <a:buChar char="•"/>
            </a:pPr>
            <a:r>
              <a:rPr lang="en-US" sz="1200" dirty="0">
                <a:solidFill>
                  <a:srgbClr val="0B0B0B"/>
                </a:solidFill>
                <a:latin typeface="Calibri" pitchFamily="34" charset="0"/>
                <a:ea typeface="Calibri" pitchFamily="34" charset="-122"/>
                <a:cs typeface="Calibri" pitchFamily="34" charset="-120"/>
              </a:rPr>
              <a:t>The screenshots named in the log must be present in the folder.</a:t>
            </a:r>
            <a:endParaRPr lang="en-US" sz="1200" dirty="0"/>
          </a:p>
          <a:p>
            <a:pPr marL="177800" indent="-177800">
              <a:spcAft>
                <a:spcPts val="600"/>
              </a:spcAft>
              <a:buSzPct val="100000"/>
              <a:buChar char="•"/>
            </a:pPr>
            <a:r>
              <a:rPr lang="en-US" sz="1200" dirty="0">
                <a:solidFill>
                  <a:srgbClr val="0B0B0B"/>
                </a:solidFill>
                <a:latin typeface="Calibri" pitchFamily="34" charset="0"/>
                <a:ea typeface="Calibri" pitchFamily="34" charset="-122"/>
                <a:cs typeface="Calibri" pitchFamily="34" charset="-120"/>
              </a:rPr>
              <a:t>It cannot prove who was at the keyboard. That is the invigilator’s job.</a:t>
            </a:r>
            <a:endParaRPr lang="en-US" sz="1200" dirty="0"/>
          </a:p>
        </p:txBody>
      </p:sp>
      <p:sp>
        <p:nvSpPr>
          <p:cNvPr id="9" name="Shape 6"/>
          <p:cNvSpPr/>
          <p:nvPr/>
        </p:nvSpPr>
        <p:spPr>
          <a:xfrm>
            <a:off x="4663440" y="1417320"/>
            <a:ext cx="4023360" cy="3291840"/>
          </a:xfrm>
          <a:prstGeom prst="roundRect">
            <a:avLst>
              <a:gd name="adj" fmla="val 2222"/>
            </a:avLst>
          </a:prstGeom>
          <a:solidFill>
            <a:srgbClr val="F6F5F2"/>
          </a:solidFill>
          <a:ln w="9525">
            <a:solidFill>
              <a:srgbClr val="E6E4DF"/>
            </a:solidFill>
            <a:prstDash val="solid"/>
          </a:ln>
        </p:spPr>
      </p:sp>
      <p:pic>
        <p:nvPicPr>
          <p:cNvPr id="10" name="Image 1" descr="/Users/pawank/DiskAlpha/Development/exameye/docs/deck/img/icons/doc-blue.png">    </p:cNvPr>
          <p:cNvPicPr>
            <a:picLocks noChangeAspect="1"/>
          </p:cNvPicPr>
          <p:nvPr/>
        </p:nvPicPr>
        <p:blipFill>
          <a:blip r:embed="rId2"/>
          <a:stretch>
            <a:fillRect/>
          </a:stretch>
        </p:blipFill>
        <p:spPr>
          <a:xfrm>
            <a:off x="4846320" y="1600200"/>
            <a:ext cx="457200" cy="457200"/>
          </a:xfrm>
          <a:prstGeom prst="rect">
            <a:avLst/>
          </a:prstGeom>
        </p:spPr>
      </p:pic>
      <p:sp>
        <p:nvSpPr>
          <p:cNvPr id="11" name="Text 7"/>
          <p:cNvSpPr txBox="1"/>
          <p:nvPr/>
        </p:nvSpPr>
        <p:spPr>
          <a:xfrm>
            <a:off x="5440680" y="1664208"/>
            <a:ext cx="3108960" cy="365760"/>
          </a:xfrm>
          <a:prstGeom prst="rect">
            <a:avLst/>
          </a:prstGeom>
          <a:noFill/>
          <a:ln/>
        </p:spPr>
        <p:txBody>
          <a:bodyPr wrap="square" lIns="0" tIns="0" rIns="0" bIns="0" rtlCol="0" anchor="t"/>
          <a:lstStyle/>
          <a:p>
            <a:pPr indent="0" marL="0">
              <a:buNone/>
            </a:pPr>
            <a:r>
              <a:rPr lang="en-US" sz="1600" b="1" dirty="0">
                <a:solidFill>
                  <a:srgbClr val="0F2A4A"/>
                </a:solidFill>
                <a:latin typeface="Calibri" pitchFamily="34" charset="0"/>
                <a:ea typeface="Calibri" pitchFamily="34" charset="-122"/>
                <a:cs typeface="Calibri" pitchFamily="34" charset="-120"/>
              </a:rPr>
              <a:t>The checker</a:t>
            </a:r>
            <a:endParaRPr lang="en-US" sz="1600" dirty="0"/>
          </a:p>
        </p:txBody>
      </p:sp>
      <p:sp>
        <p:nvSpPr>
          <p:cNvPr id="12" name="Text 8"/>
          <p:cNvSpPr txBox="1"/>
          <p:nvPr/>
        </p:nvSpPr>
        <p:spPr>
          <a:xfrm>
            <a:off x="4846320" y="2194560"/>
            <a:ext cx="3657600" cy="54864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IT can re-check any folder later, independently of the report, with one command from the ExamEye folder:</a:t>
            </a:r>
            <a:endParaRPr lang="en-US" sz="1200" dirty="0"/>
          </a:p>
        </p:txBody>
      </p:sp>
      <p:sp>
        <p:nvSpPr>
          <p:cNvPr id="13" name="Shape 9"/>
          <p:cNvSpPr/>
          <p:nvPr/>
        </p:nvSpPr>
        <p:spPr>
          <a:xfrm>
            <a:off x="4846320" y="2788920"/>
            <a:ext cx="3657600" cy="960120"/>
          </a:xfrm>
          <a:prstGeom prst="roundRect">
            <a:avLst>
              <a:gd name="adj" fmla="val 5714"/>
            </a:avLst>
          </a:prstGeom>
          <a:solidFill>
            <a:srgbClr val="0F2A4A"/>
          </a:solidFill>
          <a:ln w="12700">
            <a:solidFill>
              <a:srgbClr val="0F2A4A"/>
            </a:solidFill>
            <a:prstDash val="solid"/>
          </a:ln>
        </p:spPr>
      </p:sp>
      <p:sp>
        <p:nvSpPr>
          <p:cNvPr id="14" name="Text 10"/>
          <p:cNvSpPr txBox="1"/>
          <p:nvPr/>
        </p:nvSpPr>
        <p:spPr>
          <a:xfrm>
            <a:off x="4983480" y="2862072"/>
            <a:ext cx="3474720" cy="868680"/>
          </a:xfrm>
          <a:prstGeom prst="rect">
            <a:avLst/>
          </a:prstGeom>
          <a:noFill/>
          <a:ln/>
        </p:spPr>
        <p:txBody>
          <a:bodyPr wrap="square" lIns="0" tIns="0" rIns="0" bIns="0" rtlCol="0" anchor="t"/>
          <a:lstStyle/>
          <a:p>
            <a:pPr indent="0" marL="0">
              <a:buNone/>
            </a:pPr>
            <a:r>
              <a:rPr lang="en-US" sz="1000" dirty="0">
                <a:solidFill>
                  <a:srgbClr val="CADCFC"/>
                </a:solidFill>
                <a:latin typeface="Courier New" pitchFamily="34" charset="0"/>
                <a:ea typeface="Courier New" pitchFamily="34" charset="-122"/>
                <a:cs typeface="Courier New" pitchFamily="34" charset="-120"/>
              </a:rPr>
              <a:t>node tools/verify.mjs "&lt;folder&gt;"</a:t>
            </a:r>
            <a:endParaRPr lang="en-US" sz="1000" dirty="0"/>
          </a:p>
          <a:p>
            <a:pPr indent="0" marL="0">
              <a:buNone/>
            </a:pP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OK 20260916-132318_C12-S07:</a:t>
            </a:r>
            <a:endParaRPr lang="en-US" sz="1000" dirty="0"/>
          </a:p>
          <a:p>
            <a:pPr indent="0" marL="0">
              <a:buNone/>
            </a:pPr>
            <a:r>
              <a:rPr lang="en-US" sz="1000" dirty="0">
                <a:solidFill>
                  <a:srgbClr val="CADCFC"/>
                </a:solidFill>
                <a:latin typeface="Courier New" pitchFamily="34" charset="0"/>
                <a:ea typeface="Courier New" pitchFamily="34" charset="-122"/>
                <a:cs typeface="Courier New" pitchFamily="34" charset="-120"/>
              </a:rPr>
              <a:t>10 lines, 9 events, 3 screenshots present</a:t>
            </a:r>
            <a:endParaRPr lang="en-US" sz="1000" dirty="0"/>
          </a:p>
        </p:txBody>
      </p:sp>
      <p:sp>
        <p:nvSpPr>
          <p:cNvPr id="15" name="Text 11"/>
          <p:cNvSpPr txBox="1"/>
          <p:nvPr/>
        </p:nvSpPr>
        <p:spPr>
          <a:xfrm>
            <a:off x="4846320" y="3886200"/>
            <a:ext cx="3657600" cy="64008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A modified copy reports BROKEN and names the first bad line or the missing picture.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17</a:t>
            </a:r>
            <a:endParaRPr lang="en-US" sz="900" dirty="0"/>
          </a:p>
        </p:txBody>
      </p:sp>
      <p:sp>
        <p:nvSpPr>
          <p:cNvPr id="3" name="Text 1"/>
          <p:cNvSpPr txBox="1"/>
          <p:nvPr/>
        </p:nvSpPr>
        <p:spPr>
          <a:xfrm>
            <a:off x="457200" y="347472"/>
            <a:ext cx="8229600" cy="548640"/>
          </a:xfrm>
          <a:prstGeom prst="rect">
            <a:avLst/>
          </a:prstGeom>
          <a:noFill/>
          <a:ln/>
        </p:spPr>
        <p:txBody>
          <a:bodyPr wrap="square" lIns="0" tIns="0" rIns="0" bIns="0" rtlCol="0" anchor="t"/>
          <a:lstStyle/>
          <a:p>
            <a:pPr indent="0" marL="0">
              <a:buNone/>
            </a:pPr>
            <a:r>
              <a:rPr lang="en-US" sz="2800" b="1" dirty="0">
                <a:solidFill>
                  <a:srgbClr val="0F2A4A"/>
                </a:solidFill>
                <a:latin typeface="Calibri" pitchFamily="34" charset="0"/>
                <a:ea typeface="Calibri" pitchFamily="34" charset="-122"/>
                <a:cs typeface="Calibri" pitchFamily="34" charset="-120"/>
              </a:rPr>
              <a:t>Limits and privacy</a:t>
            </a:r>
            <a:endParaRPr lang="en-US" sz="2800" dirty="0"/>
          </a:p>
        </p:txBody>
      </p:sp>
      <p:sp>
        <p:nvSpPr>
          <p:cNvPr id="4" name="Text 2"/>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Know these before relying on the record.</a:t>
            </a:r>
            <a:endParaRPr lang="en-US" sz="1400" dirty="0"/>
          </a:p>
        </p:txBody>
      </p:sp>
      <p:pic>
        <p:nvPicPr>
          <p:cNvPr id="5" name="Image 0" descr="/Users/pawank/DiskAlpha/Development/exameye/docs/deck/img/icons/warning-amber.png">    </p:cNvPr>
          <p:cNvPicPr>
            <a:picLocks noChangeAspect="1"/>
          </p:cNvPicPr>
          <p:nvPr/>
        </p:nvPicPr>
        <p:blipFill>
          <a:blip r:embed="rId1"/>
          <a:stretch>
            <a:fillRect/>
          </a:stretch>
        </p:blipFill>
        <p:spPr>
          <a:xfrm>
            <a:off x="457200" y="1435608"/>
            <a:ext cx="457200" cy="457200"/>
          </a:xfrm>
          <a:prstGeom prst="rect">
            <a:avLst/>
          </a:prstGeom>
        </p:spPr>
      </p:pic>
      <p:sp>
        <p:nvSpPr>
          <p:cNvPr id="6" name="Text 3"/>
          <p:cNvSpPr txBox="1"/>
          <p:nvPr/>
        </p:nvSpPr>
        <p:spPr>
          <a:xfrm>
            <a:off x="1097280" y="1417320"/>
            <a:ext cx="7589520" cy="274320"/>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A candidate can switch the extension off</a:t>
            </a:r>
            <a:endParaRPr lang="en-US" sz="1400" dirty="0"/>
          </a:p>
        </p:txBody>
      </p:sp>
      <p:sp>
        <p:nvSpPr>
          <p:cNvPr id="7" name="Text 4"/>
          <p:cNvSpPr txBox="1"/>
          <p:nvPr/>
        </p:nvSpPr>
        <p:spPr>
          <a:xfrm>
            <a:off x="1097280" y="1691640"/>
            <a:ext cx="758952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On an unmanaged machine nothing prevents it. The switch-off appears as a Recording gap, and a paper with missing files is itself evidence. Managed machines can lock it by policy.</a:t>
            </a:r>
            <a:endParaRPr lang="en-US" sz="1150" dirty="0"/>
          </a:p>
        </p:txBody>
      </p:sp>
      <p:pic>
        <p:nvPicPr>
          <p:cNvPr id="8" name="Image 1" descr="/Users/pawank/DiskAlpha/Development/exameye/docs/deck/img/icons/eye-blue.png">    </p:cNvPr>
          <p:cNvPicPr>
            <a:picLocks noChangeAspect="1"/>
          </p:cNvPicPr>
          <p:nvPr/>
        </p:nvPicPr>
        <p:blipFill>
          <a:blip r:embed="rId2"/>
          <a:stretch>
            <a:fillRect/>
          </a:stretch>
        </p:blipFill>
        <p:spPr>
          <a:xfrm>
            <a:off x="457200" y="2276856"/>
            <a:ext cx="457200" cy="457200"/>
          </a:xfrm>
          <a:prstGeom prst="rect">
            <a:avLst/>
          </a:prstGeom>
        </p:spPr>
      </p:pic>
      <p:sp>
        <p:nvSpPr>
          <p:cNvPr id="9" name="Text 5"/>
          <p:cNvSpPr txBox="1"/>
          <p:nvPr/>
        </p:nvSpPr>
        <p:spPr>
          <a:xfrm>
            <a:off x="1097280" y="2258568"/>
            <a:ext cx="7589520" cy="274320"/>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It sees only the browser</a:t>
            </a:r>
            <a:endParaRPr lang="en-US" sz="1400" dirty="0"/>
          </a:p>
        </p:txBody>
      </p:sp>
      <p:sp>
        <p:nvSpPr>
          <p:cNvPr id="10" name="Text 6"/>
          <p:cNvSpPr txBox="1"/>
          <p:nvPr/>
        </p:nvSpPr>
        <p:spPr>
          <a:xfrm>
            <a:off x="1097280" y="2532888"/>
            <a:ext cx="758952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Phones, paper notes and a second computer are invisible. Whole-screen capture shows other applications only while Chrome is not in front, and only if the candidate accepted the share.</a:t>
            </a:r>
            <a:endParaRPr lang="en-US" sz="1150" dirty="0"/>
          </a:p>
        </p:txBody>
      </p:sp>
      <p:pic>
        <p:nvPicPr>
          <p:cNvPr id="11" name="Image 2" descr="/Users/pawank/DiskAlpha/Development/exameye/docs/deck/img/icons/gear-blue.png">    </p:cNvPr>
          <p:cNvPicPr>
            <a:picLocks noChangeAspect="1"/>
          </p:cNvPicPr>
          <p:nvPr/>
        </p:nvPicPr>
        <p:blipFill>
          <a:blip r:embed="rId3"/>
          <a:stretch>
            <a:fillRect/>
          </a:stretch>
        </p:blipFill>
        <p:spPr>
          <a:xfrm>
            <a:off x="457200" y="3118104"/>
            <a:ext cx="457200" cy="457200"/>
          </a:xfrm>
          <a:prstGeom prst="rect">
            <a:avLst/>
          </a:prstGeom>
        </p:spPr>
      </p:pic>
      <p:sp>
        <p:nvSpPr>
          <p:cNvPr id="12" name="Text 7"/>
          <p:cNvSpPr txBox="1"/>
          <p:nvPr/>
        </p:nvSpPr>
        <p:spPr>
          <a:xfrm>
            <a:off x="1097280" y="3099816"/>
            <a:ext cx="7589520" cy="274320"/>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The settings page is open to anyone at the machine</a:t>
            </a:r>
            <a:endParaRPr lang="en-US" sz="1400" dirty="0"/>
          </a:p>
        </p:txBody>
      </p:sp>
      <p:sp>
        <p:nvSpPr>
          <p:cNvPr id="13" name="Text 8"/>
          <p:cNvSpPr txBox="1"/>
          <p:nvPr/>
        </p:nvSpPr>
        <p:spPr>
          <a:xfrm>
            <a:off x="1097280" y="3374136"/>
            <a:ext cx="758952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That is why every change during a paper is logged with a screenshot, and why the output folder is fixed when the paper starts.</a:t>
            </a:r>
            <a:endParaRPr lang="en-US" sz="1150" dirty="0"/>
          </a:p>
        </p:txBody>
      </p:sp>
      <p:pic>
        <p:nvPicPr>
          <p:cNvPr id="14" name="Image 3" descr="/Users/pawank/DiskAlpha/Development/exameye/docs/deck/img/icons/shield-navy.png">    </p:cNvPr>
          <p:cNvPicPr>
            <a:picLocks noChangeAspect="1"/>
          </p:cNvPicPr>
          <p:nvPr/>
        </p:nvPicPr>
        <p:blipFill>
          <a:blip r:embed="rId4"/>
          <a:stretch>
            <a:fillRect/>
          </a:stretch>
        </p:blipFill>
        <p:spPr>
          <a:xfrm>
            <a:off x="457200" y="3959352"/>
            <a:ext cx="457200" cy="457200"/>
          </a:xfrm>
          <a:prstGeom prst="rect">
            <a:avLst/>
          </a:prstGeom>
        </p:spPr>
      </p:pic>
      <p:sp>
        <p:nvSpPr>
          <p:cNvPr id="15" name="Text 9"/>
          <p:cNvSpPr txBox="1"/>
          <p:nvPr/>
        </p:nvSpPr>
        <p:spPr>
          <a:xfrm>
            <a:off x="1097280" y="3941064"/>
            <a:ext cx="7589520" cy="274320"/>
          </a:xfrm>
          <a:prstGeom prst="rect">
            <a:avLst/>
          </a:prstGeom>
          <a:noFill/>
          <a:ln/>
        </p:spPr>
        <p:txBody>
          <a:bodyPr wrap="square" lIns="0" tIns="0" rIns="0" bIns="0" rtlCol="0" anchor="t"/>
          <a:lstStyle/>
          <a:p>
            <a:pPr indent="0" marL="0">
              <a:buNone/>
            </a:pPr>
            <a:r>
              <a:rPr lang="en-US" sz="1400" b="1" dirty="0">
                <a:solidFill>
                  <a:srgbClr val="0F2A4A"/>
                </a:solidFill>
                <a:latin typeface="Calibri" pitchFamily="34" charset="0"/>
                <a:ea typeface="Calibri" pitchFamily="34" charset="-122"/>
                <a:cs typeface="Calibri" pitchFamily="34" charset="-120"/>
              </a:rPr>
              <a:t>Nothing leaves the machine</a:t>
            </a:r>
            <a:endParaRPr lang="en-US" sz="1400" dirty="0"/>
          </a:p>
        </p:txBody>
      </p:sp>
      <p:sp>
        <p:nvSpPr>
          <p:cNvPr id="16" name="Text 10"/>
          <p:cNvSpPr txBox="1"/>
          <p:nvPr/>
        </p:nvSpPr>
        <p:spPr>
          <a:xfrm>
            <a:off x="1097280" y="4215384"/>
            <a:ext cx="7589520" cy="548640"/>
          </a:xfrm>
          <a:prstGeom prst="rect">
            <a:avLst/>
          </a:prstGeom>
          <a:noFill/>
          <a:ln/>
        </p:spPr>
        <p:txBody>
          <a:bodyPr wrap="square" lIns="0" tIns="0" rIns="0" bIns="0" rtlCol="0" anchor="t"/>
          <a:lstStyle/>
          <a:p>
            <a:pPr indent="0" marL="0">
              <a:buNone/>
            </a:pPr>
            <a:r>
              <a:rPr lang="en-US" sz="1150" dirty="0">
                <a:solidFill>
                  <a:srgbClr val="52514E"/>
                </a:solidFill>
                <a:latin typeface="Calibri" pitchFamily="34" charset="0"/>
                <a:ea typeface="Calibri" pitchFamily="34" charset="-122"/>
                <a:cs typeface="Calibri" pitchFamily="34" charset="-120"/>
              </a:rPr>
              <a:t>ExamEye has no server. Files are written to the local Downloads folder and stay there until the centre collects them. Candidates should be told they are being recorded.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457200" y="4823460"/>
            <a:ext cx="2743200" cy="228600"/>
          </a:xfrm>
          <a:prstGeom prst="rect">
            <a:avLst/>
          </a:prstGeom>
          <a:noFill/>
          <a:ln/>
        </p:spPr>
        <p:txBody>
          <a:bodyPr wrap="square" lIns="0" tIns="0" rIns="0" bIns="0" rtlCol="0" anchor="t"/>
          <a:lstStyle/>
          <a:p>
            <a:pPr indent="0" marL="0">
              <a:buNone/>
            </a:pPr>
            <a:r>
              <a:rPr lang="en-US" sz="900" dirty="0">
                <a:solidFill>
                  <a:srgbClr val="898781"/>
                </a:solidFill>
                <a:latin typeface="Calibri" pitchFamily="34" charset="0"/>
                <a:ea typeface="Calibri" pitchFamily="34" charset="-122"/>
                <a:cs typeface="Calibri" pitchFamily="34" charset="-120"/>
              </a:rPr>
              <a:t>ExamEye  ·  18</a:t>
            </a:r>
            <a:endParaRPr lang="en-US" sz="9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Exam-day checklist</a:t>
            </a:r>
            <a:endParaRPr lang="en-US" sz="3200" dirty="0"/>
          </a:p>
        </p:txBody>
      </p:sp>
      <p:pic>
        <p:nvPicPr>
          <p:cNvPr id="4" name="Image 0" descr="/Users/pawank/DiskAlpha/Development/exameye/docs/deck/img/icons/check-green.png">    </p:cNvPr>
          <p:cNvPicPr>
            <a:picLocks noChangeAspect="1"/>
          </p:cNvPicPr>
          <p:nvPr/>
        </p:nvPicPr>
        <p:blipFill>
          <a:blip r:embed="rId1"/>
          <a:stretch>
            <a:fillRect/>
          </a:stretch>
        </p:blipFill>
        <p:spPr>
          <a:xfrm>
            <a:off x="457200" y="1444752"/>
            <a:ext cx="347472" cy="347472"/>
          </a:xfrm>
          <a:prstGeom prst="rect">
            <a:avLst/>
          </a:prstGeom>
        </p:spPr>
      </p:pic>
      <p:sp>
        <p:nvSpPr>
          <p:cNvPr id="5" name="Text 2"/>
          <p:cNvSpPr txBox="1"/>
          <p:nvPr/>
        </p:nvSpPr>
        <p:spPr>
          <a:xfrm>
            <a:off x="960120" y="1417320"/>
            <a:ext cx="777240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ExamEye shows as enabled at chrome://extensions</a:t>
            </a:r>
            <a:endParaRPr lang="en-US" sz="1600" dirty="0"/>
          </a:p>
        </p:txBody>
      </p:sp>
      <p:pic>
        <p:nvPicPr>
          <p:cNvPr id="6" name="Image 1" descr="/Users/pawank/DiskAlpha/Development/exameye/docs/deck/img/icons/check-green.png">    </p:cNvPr>
          <p:cNvPicPr>
            <a:picLocks noChangeAspect="1"/>
          </p:cNvPicPr>
          <p:nvPr/>
        </p:nvPicPr>
        <p:blipFill>
          <a:blip r:embed="rId2"/>
          <a:stretch>
            <a:fillRect/>
          </a:stretch>
        </p:blipFill>
        <p:spPr>
          <a:xfrm>
            <a:off x="457200" y="1975104"/>
            <a:ext cx="347472" cy="347472"/>
          </a:xfrm>
          <a:prstGeom prst="rect">
            <a:avLst/>
          </a:prstGeom>
        </p:spPr>
      </p:pic>
      <p:sp>
        <p:nvSpPr>
          <p:cNvPr id="7" name="Text 3"/>
          <p:cNvSpPr txBox="1"/>
          <p:nvPr/>
        </p:nvSpPr>
        <p:spPr>
          <a:xfrm>
            <a:off x="960120" y="1947672"/>
            <a:ext cx="777240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Chrome does not ask where to save downloads</a:t>
            </a:r>
            <a:endParaRPr lang="en-US" sz="1600" dirty="0"/>
          </a:p>
        </p:txBody>
      </p:sp>
      <p:pic>
        <p:nvPicPr>
          <p:cNvPr id="8" name="Image 2" descr="/Users/pawank/DiskAlpha/Development/exameye/docs/deck/img/icons/check-green.png">    </p:cNvPr>
          <p:cNvPicPr>
            <a:picLocks noChangeAspect="1"/>
          </p:cNvPicPr>
          <p:nvPr/>
        </p:nvPicPr>
        <p:blipFill>
          <a:blip r:embed="rId3"/>
          <a:stretch>
            <a:fillRect/>
          </a:stretch>
        </p:blipFill>
        <p:spPr>
          <a:xfrm>
            <a:off x="457200" y="2505456"/>
            <a:ext cx="347472" cy="347472"/>
          </a:xfrm>
          <a:prstGeom prst="rect">
            <a:avLst/>
          </a:prstGeom>
        </p:spPr>
      </p:pic>
      <p:sp>
        <p:nvSpPr>
          <p:cNvPr id="9" name="Text 4"/>
          <p:cNvSpPr txBox="1"/>
          <p:nvPr/>
        </p:nvSpPr>
        <p:spPr>
          <a:xfrm>
            <a:off x="960120" y="2478024"/>
            <a:ext cx="777240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Settings saved for today’s paper; seat ID is this desk</a:t>
            </a:r>
            <a:endParaRPr lang="en-US" sz="1600" dirty="0"/>
          </a:p>
        </p:txBody>
      </p:sp>
      <p:pic>
        <p:nvPicPr>
          <p:cNvPr id="10" name="Image 3" descr="/Users/pawank/DiskAlpha/Development/exameye/docs/deck/img/icons/check-green.png">    </p:cNvPr>
          <p:cNvPicPr>
            <a:picLocks noChangeAspect="1"/>
          </p:cNvPicPr>
          <p:nvPr/>
        </p:nvPicPr>
        <p:blipFill>
          <a:blip r:embed="rId4"/>
          <a:stretch>
            <a:fillRect/>
          </a:stretch>
        </p:blipFill>
        <p:spPr>
          <a:xfrm>
            <a:off x="457200" y="3035808"/>
            <a:ext cx="347472" cy="347472"/>
          </a:xfrm>
          <a:prstGeom prst="rect">
            <a:avLst/>
          </a:prstGeom>
        </p:spPr>
      </p:pic>
      <p:sp>
        <p:nvSpPr>
          <p:cNvPr id="11" name="Text 5"/>
          <p:cNvSpPr txBox="1"/>
          <p:nvPr/>
        </p:nvSpPr>
        <p:spPr>
          <a:xfrm>
            <a:off x="960120" y="3008376"/>
            <a:ext cx="777240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Dry run done on this machine today</a:t>
            </a:r>
            <a:endParaRPr lang="en-US" sz="1600" dirty="0"/>
          </a:p>
        </p:txBody>
      </p:sp>
      <p:pic>
        <p:nvPicPr>
          <p:cNvPr id="12" name="Image 4" descr="/Users/pawank/DiskAlpha/Development/exameye/docs/deck/img/icons/check-green.png">    </p:cNvPr>
          <p:cNvPicPr>
            <a:picLocks noChangeAspect="1"/>
          </p:cNvPicPr>
          <p:nvPr/>
        </p:nvPicPr>
        <p:blipFill>
          <a:blip r:embed="rId5"/>
          <a:stretch>
            <a:fillRect/>
          </a:stretch>
        </p:blipFill>
        <p:spPr>
          <a:xfrm>
            <a:off x="457200" y="3566160"/>
            <a:ext cx="347472" cy="347472"/>
          </a:xfrm>
          <a:prstGeom prst="rect">
            <a:avLst/>
          </a:prstGeom>
        </p:spPr>
      </p:pic>
      <p:sp>
        <p:nvSpPr>
          <p:cNvPr id="13" name="Text 6"/>
          <p:cNvSpPr txBox="1"/>
          <p:nvPr/>
        </p:nvSpPr>
        <p:spPr>
          <a:xfrm>
            <a:off x="960120" y="3538728"/>
            <a:ext cx="777240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Extra monitors disconnected; screen-share prompt explained to candidates</a:t>
            </a:r>
            <a:endParaRPr lang="en-US" sz="1600" dirty="0"/>
          </a:p>
        </p:txBody>
      </p:sp>
      <p:pic>
        <p:nvPicPr>
          <p:cNvPr id="14" name="Image 5" descr="/Users/pawank/DiskAlpha/Development/exameye/docs/deck/img/icons/check-green.png">    </p:cNvPr>
          <p:cNvPicPr>
            <a:picLocks noChangeAspect="1"/>
          </p:cNvPicPr>
          <p:nvPr/>
        </p:nvPicPr>
        <p:blipFill>
          <a:blip r:embed="rId6"/>
          <a:stretch>
            <a:fillRect/>
          </a:stretch>
        </p:blipFill>
        <p:spPr>
          <a:xfrm>
            <a:off x="457200" y="4096512"/>
            <a:ext cx="347472" cy="347472"/>
          </a:xfrm>
          <a:prstGeom prst="rect">
            <a:avLst/>
          </a:prstGeom>
        </p:spPr>
      </p:pic>
      <p:sp>
        <p:nvSpPr>
          <p:cNvPr id="15" name="Text 7"/>
          <p:cNvSpPr txBox="1"/>
          <p:nvPr/>
        </p:nvSpPr>
        <p:spPr>
          <a:xfrm>
            <a:off x="960120" y="4069080"/>
            <a:ext cx="777240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After the paper: copy the session folder from Downloads → ExamEye</a:t>
            </a:r>
            <a:endParaRPr lang="en-US" sz="1600" dirty="0"/>
          </a:p>
        </p:txBody>
      </p:sp>
      <p:sp>
        <p:nvSpPr>
          <p:cNvPr id="16" name="Text 8"/>
          <p:cNvSpPr txBox="1"/>
          <p:nvPr/>
        </p:nvSpPr>
        <p:spPr>
          <a:xfrm>
            <a:off x="457200" y="4617720"/>
            <a:ext cx="8229600" cy="3200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Full checklist: docs/centre-setup.md in the ExamEye folder.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ExamEye overview</dc:title>
  <dc:subject>PptxGenJS Presentation</dc:subject>
  <dc:creator>ExamEye</dc:creator>
  <cp:lastModifiedBy>ExamEye</cp:lastModifiedBy>
  <cp:revision>1</cp:revision>
  <dcterms:created xsi:type="dcterms:W3CDTF">2026-09-16T07:54:43Z</dcterms:created>
  <dcterms:modified xsi:type="dcterms:W3CDTF">2026-09-16T07:54:43Z</dcterms:modified>
</cp:coreProperties>
</file>